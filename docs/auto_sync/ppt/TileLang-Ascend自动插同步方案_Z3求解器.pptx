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45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 c" userId="c61ef50d02a58fec" providerId="LiveId" clId="{844CA810-E639-44B5-A1A2-D0F0BD2C3BAC}"/>
    <pc:docChg chg="modSld">
      <pc:chgData name="j c" userId="c61ef50d02a58fec" providerId="LiveId" clId="{844CA810-E639-44B5-A1A2-D0F0BD2C3BAC}" dt="2026-06-12T06:32:36.265" v="21" actId="14100"/>
      <pc:docMkLst>
        <pc:docMk/>
      </pc:docMkLst>
      <pc:sldChg chg="modSp mod">
        <pc:chgData name="j c" userId="c61ef50d02a58fec" providerId="LiveId" clId="{844CA810-E639-44B5-A1A2-D0F0BD2C3BAC}" dt="2026-06-12T06:32:36.265" v="21" actId="14100"/>
        <pc:sldMkLst>
          <pc:docMk/>
          <pc:sldMk cId="0" sldId="271"/>
        </pc:sldMkLst>
        <pc:spChg chg="mod">
          <ac:chgData name="j c" userId="c61ef50d02a58fec" providerId="LiveId" clId="{844CA810-E639-44B5-A1A2-D0F0BD2C3BAC}" dt="2026-06-12T06:29:28.090" v="3" actId="20577"/>
          <ac:spMkLst>
            <pc:docMk/>
            <pc:sldMk cId="0" sldId="271"/>
            <ac:spMk id="11" creationId="{00000000-0000-0000-0000-000000000000}"/>
          </ac:spMkLst>
        </pc:spChg>
        <pc:spChg chg="mod">
          <ac:chgData name="j c" userId="c61ef50d02a58fec" providerId="LiveId" clId="{844CA810-E639-44B5-A1A2-D0F0BD2C3BAC}" dt="2026-06-12T06:29:39.277" v="6" actId="20577"/>
          <ac:spMkLst>
            <pc:docMk/>
            <pc:sldMk cId="0" sldId="271"/>
            <ac:spMk id="17" creationId="{00000000-0000-0000-0000-000000000000}"/>
          </ac:spMkLst>
        </pc:spChg>
        <pc:spChg chg="mod">
          <ac:chgData name="j c" userId="c61ef50d02a58fec" providerId="LiveId" clId="{844CA810-E639-44B5-A1A2-D0F0BD2C3BAC}" dt="2026-06-12T06:29:45.783" v="7" actId="20577"/>
          <ac:spMkLst>
            <pc:docMk/>
            <pc:sldMk cId="0" sldId="271"/>
            <ac:spMk id="23" creationId="{00000000-0000-0000-0000-000000000000}"/>
          </ac:spMkLst>
        </pc:spChg>
        <pc:spChg chg="mod">
          <ac:chgData name="j c" userId="c61ef50d02a58fec" providerId="LiveId" clId="{844CA810-E639-44B5-A1A2-D0F0BD2C3BAC}" dt="2026-06-12T06:30:33.179" v="11" actId="20577"/>
          <ac:spMkLst>
            <pc:docMk/>
            <pc:sldMk cId="0" sldId="271"/>
            <ac:spMk id="29" creationId="{00000000-0000-0000-0000-000000000000}"/>
          </ac:spMkLst>
        </pc:spChg>
        <pc:spChg chg="mod">
          <ac:chgData name="j c" userId="c61ef50d02a58fec" providerId="LiveId" clId="{844CA810-E639-44B5-A1A2-D0F0BD2C3BAC}" dt="2026-06-12T06:30:10.509" v="10" actId="20577"/>
          <ac:spMkLst>
            <pc:docMk/>
            <pc:sldMk cId="0" sldId="271"/>
            <ac:spMk id="35" creationId="{00000000-0000-0000-0000-000000000000}"/>
          </ac:spMkLst>
        </pc:spChg>
        <pc:spChg chg="mod">
          <ac:chgData name="j c" userId="c61ef50d02a58fec" providerId="LiveId" clId="{844CA810-E639-44B5-A1A2-D0F0BD2C3BAC}" dt="2026-06-12T06:30:57.201" v="12" actId="20577"/>
          <ac:spMkLst>
            <pc:docMk/>
            <pc:sldMk cId="0" sldId="271"/>
            <ac:spMk id="41" creationId="{00000000-0000-0000-0000-000000000000}"/>
          </ac:spMkLst>
        </pc:spChg>
        <pc:spChg chg="mod">
          <ac:chgData name="j c" userId="c61ef50d02a58fec" providerId="LiveId" clId="{844CA810-E639-44B5-A1A2-D0F0BD2C3BAC}" dt="2026-06-12T06:32:36.265" v="21" actId="14100"/>
          <ac:spMkLst>
            <pc:docMk/>
            <pc:sldMk cId="0" sldId="271"/>
            <ac:spMk id="42" creationId="{00000000-0000-0000-0000-000000000000}"/>
          </ac:spMkLst>
        </pc:spChg>
        <pc:spChg chg="mod">
          <ac:chgData name="j c" userId="c61ef50d02a58fec" providerId="LiveId" clId="{844CA810-E639-44B5-A1A2-D0F0BD2C3BAC}" dt="2026-06-12T06:32:31.860" v="20" actId="14100"/>
          <ac:spMkLst>
            <pc:docMk/>
            <pc:sldMk cId="0" sldId="271"/>
            <ac:spMk id="43" creationId="{00000000-0000-0000-0000-000000000000}"/>
          </ac:spMkLst>
        </pc:spChg>
        <pc:spChg chg="mod">
          <ac:chgData name="j c" userId="c61ef50d02a58fec" providerId="LiveId" clId="{844CA810-E639-44B5-A1A2-D0F0BD2C3BAC}" dt="2026-06-12T06:32:28.977" v="19" actId="14100"/>
          <ac:spMkLst>
            <pc:docMk/>
            <pc:sldMk cId="0" sldId="271"/>
            <ac:spMk id="44" creationId="{00000000-0000-0000-0000-000000000000}"/>
          </ac:spMkLst>
        </pc:spChg>
        <pc:spChg chg="mod">
          <ac:chgData name="j c" userId="c61ef50d02a58fec" providerId="LiveId" clId="{844CA810-E639-44B5-A1A2-D0F0BD2C3BAC}" dt="2026-06-12T06:32:16.352" v="18" actId="14100"/>
          <ac:spMkLst>
            <pc:docMk/>
            <pc:sldMk cId="0" sldId="271"/>
            <ac:spMk id="45" creationId="{00000000-0000-0000-0000-000000000000}"/>
          </ac:spMkLst>
        </pc:spChg>
        <pc:spChg chg="mod">
          <ac:chgData name="j c" userId="c61ef50d02a58fec" providerId="LiveId" clId="{844CA810-E639-44B5-A1A2-D0F0BD2C3BAC}" dt="2026-06-12T06:32:05.409" v="17" actId="20577"/>
          <ac:spMkLst>
            <pc:docMk/>
            <pc:sldMk cId="0" sldId="271"/>
            <ac:spMk id="4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828800"/>
            <a:ext cx="73152" cy="2286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TileLang-Ascend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ACC"/>
                </a:solidFill>
                <a:latin typeface="Microsoft YaHei"/>
              </a:defRPr>
            </a:pPr>
            <a:r>
              <a:t>自动插同步优化方案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CCEE"/>
                </a:solidFill>
                <a:latin typeface="Microsoft YaHei"/>
              </a:defRPr>
            </a:pPr>
            <a:r>
              <a:t>基于 Z3 SMT 求解器的约束分析与同步插入优化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Microsoft YaHei"/>
              </a:defRPr>
            </a:pPr>
            <a:r>
              <a:t>2026-06-11  | 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394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ascend_sync_insert.cc  vs  thread_storage_sync.cc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一、背景与问题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自动插同步机制的过度保守问题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TileLang-Ascend Auto Sync Insert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TileLang-Ascend 的自动插同步机制存在过度保守问题，在多个关键场景中插入了冗余的同步 barrier，影响算子性能：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3474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3474720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Microsoft YaHei"/>
              </a:defRPr>
            </a:pPr>
            <a:r>
              <a:t>If-Else 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t>无条件插入两次</a:t>
            </a:r>
            <a:br/>
            <a:r>
              <a:t>PipeBarrier_ALL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每个分支 2 个全量 barrier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2286000"/>
            <a:ext cx="3474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59" y="2286000"/>
            <a:ext cx="3474720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39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Microsoft YaHei"/>
              </a:defRPr>
            </a:pPr>
            <a:r>
              <a:t>For 循环场景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29260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t>物理展开 2 次迭代</a:t>
            </a:r>
            <a:br/>
            <a:r>
              <a:t>启发式合并判断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39" y="4023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丢失符号信息，~450 行代码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599" y="2286000"/>
            <a:ext cx="3474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599" y="2286000"/>
            <a:ext cx="3474720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9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Microsoft YaHei"/>
              </a:defRPr>
            </a:pPr>
            <a:r>
              <a:t>切片访问场景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9" y="29260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t>任何切片访问都触发</a:t>
            </a:r>
            <a:br/>
            <a:r>
              <a:t>PipeBarrier_ALL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9" y="4023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offset/extent 已知时仍保守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ACC"/>
                </a:solidFill>
                <a:latin typeface="Microsoft YaHei"/>
              </a:defRPr>
            </a:pPr>
            <a:r>
              <a:t>目标：对比分析 TileLang-GPU 的 Z3 求解器方案，评估将其能力移植到 TileLang-Ascend 的可行性、收益与实施计划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二、两套方案架构对比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TileLang-Ascend (NPU) vs TileLang-GPU (CUDA)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TileLang-Ascend Auto Sync Insert Optimization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TileLang-Ascend (NPU)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TileLang-GPU (CUDA)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硬件模型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多管线 pipeline + 事件对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共享内存 + __syncthreads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同步类型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PipeBarrier / EventPair (30种)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单一 tvm_storage_sync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依赖分析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物理地址重叠 + 读写掩码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Z3 求解器证明不相交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同步消除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SyncGraph BFS + Floyd-Warshall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Z3 双向蕴含证明等价性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循环处理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物理展开 2 次迭代 + 合并重建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符号化迭代偏移 + Z3 判断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线程模型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单核，不区分线程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多线程 tx/ty/tz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条件分支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保守：if 前后各插 PipeBarrier_ALL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ConditionThreadPropertyChecker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执行架构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单次 IRMutator 遍历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Planner-Inserter 两阶段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代码行数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~1600 行 (展开/合并 ~450 行)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~1920 行 (partial sync ~200 行)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当前关键缺陷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ascend_sync_insert.cc 的四个痛点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TileLang-Ascend Auto Sync Insert Optimization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场景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当前处理方式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缺陷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影响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For 循环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ForLoopUnroller 物理展开 2 次</a:t>
                      </a:r>
                    </a:p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LoopRebuilder 启发式合并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丢失 loop_var 符号信息</a:t>
                      </a:r>
                    </a:p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合并逻辑 ~450 行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冗余同步</a:t>
                      </a:r>
                    </a:p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代码复杂度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If/Else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if 前后无条件各插</a:t>
                      </a:r>
                    </a:p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PipeBarrier_ALL (L272-290)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每次分支 2 个全量 barrier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Flash Attention 等</a:t>
                      </a:r>
                    </a:p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性能损失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切片访问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is_sliced 标记触发</a:t>
                      </a:r>
                    </a:p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无条件 PipeBarrier_ALL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offset/extent 已知时仍保守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未精确利用已有信息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依赖检测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HasDataDependency()</a:t>
                      </a:r>
                    </a:p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buffer name + 物理地址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同 buffer 不同切片</a:t>
                      </a:r>
                    </a:p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被判为重叠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插入冗余同步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三、CanProve 与 Z3 的关系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不同层次的求解器，不是同一能力的两个名字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TileLang-Ascend Auto Sync Insert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54864" cy="5029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const_int_bound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276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常量整数边界分析 (O(1) 轻量)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2057400"/>
            <a:ext cx="54864" cy="5029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63040" y="2057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modular_set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3134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模集合分析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2743200"/>
            <a:ext cx="54864" cy="5029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3736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rewrite_simplify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9992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规则化简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59" y="3429000"/>
            <a:ext cx="54864" cy="5029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11679" y="3429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canonical_simplify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79" y="3685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规范化化简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4114800"/>
            <a:ext cx="54864" cy="5029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8600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int_set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3708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符号整数集合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4800600"/>
            <a:ext cx="54864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60320" y="4800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z3_prover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50566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SMT 求解器 (TileLang-GPU 主仓独有)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371600"/>
            <a:ext cx="530352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核心结论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can_prove(expr) 默认走前几层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（区间分析 + 规则推理），不经过 Z3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endParaRPr/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Z3Prover 是团队在 TVM 源码层面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自行扩展的第五层，作为兜底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endParaRPr/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标准 CanProve 覆盖 ~95% 场景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Z3 处理剩余 5% 复杂约束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Z3Prover 独有 API 与 GPU 调用点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Z3 提供了哪些不可替代的能力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TileLang-Ascend Auto Sync Insert Optimization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6858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方法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功能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标准 CanProve 能否替代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CanProve(expr)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证明表达式恒真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部分可替代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CountSatisfyingValues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AllSAT: 枚举满足条件的变量值数量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不可替代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GetSMTLIB2(expr)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导出 SMT-LIB2 表示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Z3 独有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GetModel(expr)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提取满足条件的反例模型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Z3 独有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SetTimeoutMs(ms)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超时控制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79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GPU 版本 Z3 核心调用点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64592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1. 约束等价性证明</a:t>
            </a:r>
          </a:p>
          <a:p>
            <a:pPr>
              <a:spcAft>
                <a:spcPts val="3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   prev_constr &lt;=&gt; curr_constr (双向蕴含)</a:t>
            </a:r>
          </a:p>
          <a:p>
            <a:pPr>
              <a:spcAft>
                <a:spcPts val="3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2. 符号化迭代偏移</a:t>
            </a:r>
          </a:p>
          <a:p>
            <a:pPr>
              <a:spcAft>
                <a:spcPts val="3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   loop_var -&gt; loop_var+1 跨迭代分析</a:t>
            </a:r>
          </a:p>
          <a:p>
            <a:pPr>
              <a:spcAft>
                <a:spcPts val="3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3. 指针访问不重叠检测</a:t>
            </a:r>
          </a:p>
          <a:p>
            <a:pPr>
              <a:spcAft>
                <a:spcPts val="3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   字节范围 CanProve + kSymbolicBound</a:t>
            </a:r>
          </a:p>
          <a:p>
            <a:pPr>
              <a:spcAft>
                <a:spcPts val="3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4. 线程计数枚举 (AllSAT)</a:t>
            </a:r>
          </a:p>
          <a:p>
            <a:pPr>
              <a:spcAft>
                <a:spcPts val="3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   tx%4==0 的线程数 -&gt; partial barrier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YaHei"/>
              </a:defRPr>
            </a:pPr>
            <a:r>
              <a:t>GPU 用 Z3 的两个核心原因: (1) CountSatisfyingValues 精确计算 partial barrier 线程数; (2) 约束集等价性证明判断跨线程 RAW/WAR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四、验证方案与结果总览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标准 CanProve API 能力评估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TileLang-Ascend Auto Sync Insert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A745"/>
                </a:solidFill>
                <a:latin typeface="Microsoft YaHei"/>
              </a:defRPr>
            </a:pPr>
            <a:r>
              <a:t>基础测试用例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8A745"/>
                </a:solidFill>
                <a:latin typeface="Microsoft YaHei"/>
              </a:defRPr>
            </a:pPr>
            <a:r>
              <a:t>22 / 22 通过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28016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A745"/>
                </a:solidFill>
                <a:latin typeface="Microsoft YaHei"/>
              </a:defRPr>
            </a:pPr>
            <a:r>
              <a:t>业务边界测试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6916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8A745"/>
                </a:solidFill>
                <a:latin typeface="Microsoft YaHei"/>
              </a:defRPr>
            </a:pPr>
            <a:r>
              <a:t>9 大类全部通过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Microsoft YaHei"/>
              </a:defRPr>
            </a:pPr>
            <a:r>
              <a:t>标准 API 覆盖率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6916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7ACC"/>
                </a:solidFill>
                <a:latin typeface="Microsoft YaHei"/>
              </a:defRPr>
            </a:pPr>
            <a:r>
              <a:t>~95%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128016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3545"/>
                </a:solidFill>
                <a:latin typeface="Microsoft YaHei"/>
              </a:defRPr>
            </a:pPr>
            <a:r>
              <a:t>唯一失败场景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6916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C3545"/>
                </a:solidFill>
                <a:latin typeface="Microsoft YaHei"/>
              </a:defRPr>
            </a:pPr>
            <a:r>
              <a:t>3 变量非线性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274320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类别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代表性用例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结果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线性等式/不等式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i != i+1, i != i+k (k=1,2,4,8)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全部通过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带范围约束的线性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i in [0,15]: i*4 != (i+1)*4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全部通过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模算术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i%2 != (i+1)%2, i%2 == (i+2)%2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全部通过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FloorDiv/FloorMod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i == (i//64)*64 + i%64 (取模恒等式)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全部通过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条件蕴含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x &gt; 10 =&gt; x &gt;= 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正确通过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 变量非线性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M*N &lt;= 65536 (M,N in [16,256])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全部通过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Pipeline Dispatch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stage1 != stage2 =&gt; offset1 != offset2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通过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Flash Attn mask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causal_mask =&gt; j &lt; i+window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切片不重叠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offset2 = offset1+extent =&gt; end1 &lt;= start2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通过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详细验证结果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5 个核心场景验证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TileLang-Ascend Auto Sync Insert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22402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2240280" cy="5486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icrosoft YaHei"/>
              </a:defRPr>
            </a:pPr>
            <a:r>
              <a:t>For 循环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373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A745"/>
                </a:solidFill>
                <a:latin typeface="Microsoft YaHei"/>
              </a:defRPr>
            </a:pPr>
            <a:r>
              <a:t>9/9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03120"/>
            <a:ext cx="2057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[+] i != i+1 (相邻迭代不重叠)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[+] i in [0,15]: 4*i != 4*(i+1) (字节偏移)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[+] i != i+k (k=2,4,8 距离)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33472" y="1280160"/>
            <a:ext cx="22402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33472" y="1280160"/>
            <a:ext cx="2240280" cy="5486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24912" y="14173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icrosoft YaHei"/>
              </a:defRPr>
            </a:pPr>
            <a:r>
              <a:t>If-Else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912" y="17373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A745"/>
                </a:solidFill>
                <a:latin typeface="Microsoft YaHei"/>
              </a:defRPr>
            </a:pPr>
            <a:r>
              <a:t>4/4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2" y="2103120"/>
            <a:ext cx="2057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[+] addr+128 &lt;= addr+256 (范围不重叠)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[+] base1+128 &lt;= base2 (连续分布)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[+] x &gt; 10 =&gt; x &gt;= 5 (条件蕴含)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[-] x &gt;= 5 =&gt; x &gt; 10 (预期失败)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92624" y="1280160"/>
            <a:ext cx="22402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992624" y="1280160"/>
            <a:ext cx="2240280" cy="5486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84064" y="14173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icrosoft YaHei"/>
              </a:defRPr>
            </a:pPr>
            <a:r>
              <a:t>切片访问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4064" y="17373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A745"/>
                </a:solidFill>
                <a:latin typeface="Microsoft YaHei"/>
              </a:defRPr>
            </a:pPr>
            <a:r>
              <a:t>2/2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4064" y="2103120"/>
            <a:ext cx="2057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[+] offset2=offset1+128: end1&lt;=start2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[-] offset2=offset1+64: 预期失败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1776" y="1280160"/>
            <a:ext cx="22402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51776" y="1280160"/>
            <a:ext cx="2240280" cy="5486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43216" y="14173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icrosoft YaHei"/>
              </a:defRPr>
            </a:pPr>
            <a:r>
              <a:t>跨线程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216" y="17373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A745"/>
                </a:solidFill>
                <a:latin typeface="Microsoft YaHei"/>
              </a:defRPr>
            </a:pPr>
            <a:r>
              <a:t>4/4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3216" y="2103120"/>
            <a:ext cx="2057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[+] WAW: 同线程 A[tx]==A[tx] (冲突)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[+] RAR: 不同线程 tx1!=tx2 (不重叠)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[+] RAW/WAR: 精确区分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10928" y="1280160"/>
            <a:ext cx="22402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710928" y="1280160"/>
            <a:ext cx="2240280" cy="5486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02368" y="14173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icrosoft YaHei"/>
              </a:defRPr>
            </a:pPr>
            <a:r>
              <a:t>复杂表达式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2368" y="17373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A745"/>
                </a:solidFill>
                <a:latin typeface="Microsoft YaHei"/>
              </a:defRPr>
            </a:pPr>
            <a:r>
              <a:t>3/3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02368" y="2103120"/>
            <a:ext cx="2057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[+] i%2 in [0,1] (模运算范围)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[+] i%2 != (i+1)%2 (模运算性质)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[+] floor_div(i,4) in [0,31]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业务边界测试（递进复杂度）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逐步逼近 CanProve 的极限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TileLang-Ascend Auto Sync Insert Optimization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类别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业务场景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代表性用例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结果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多层 if 嵌套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PipelineStage 条件分支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i==j+2 =&gt; i!=j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通过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模算术嵌套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Double Buffer / 模缓冲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i%3!=(i+1)%3, i%2==(i+2)%2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非线性算术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GEMM M*N*K 尺寸约束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M*N*K &lt; 2^24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通过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FloorDiv+FloorMod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Tiling 索引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i == (i//64)*64 + i%64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约束等价性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GPU FindConflict 核心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tx%8==0 &lt;=&gt; (tx+8)%8==0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通过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存在性证明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反例发现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forall i: i%7!=0 (正确拒绝)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Flash Attn Tiling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Warp 配置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i%2 != (i+1)%2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通过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多项式约束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平方公式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i*i+2*i+1 == (i+1)*(i+1)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切片访问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tvm_access_ptr 符号 offset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end1 &lt;= start2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通过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A745"/>
                </a:solidFill>
                <a:latin typeface="Microsoft YaHei"/>
              </a:defRPr>
            </a:pPr>
            <a:r>
              <a:t>结论: 标准 CanProve 已覆盖几乎所有 Ascend 业务场景，即使复杂模算术、深层嵌套、非线性约束也能证明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标准 CanProve 的唯一失败场景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三变量非线性 + 等式约束（约束优化问题）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TileLang-Ascend Auto Sync Insert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Microsoft YaHei"/>
              </a:defRPr>
            </a:pPr>
            <a:r>
              <a:t>问题描述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条件: a + b + c = 100,  a,b,c in [1,99]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证明: a*b*c &lt;= 37026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  (最值在 33 x 33 x 34 = 37026)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endParaRPr/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标准 CanProve: False  (失败)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推理: a*b*c in [1, 970299] -&gt; 无法证明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为什么失败？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标准 CanProve 基于区间分析+规则重写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无法在等式约束下精确推断非线性上界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endParaRPr/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Z3 通过量词消去求解: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  not exists a,b,c: ... and a*b*c &gt; 37026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  -&gt; UNSAT -&gt; 命题成立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8A745"/>
                </a:solidFill>
                <a:latin typeface="Microsoft YaHei"/>
              </a:defRPr>
            </a:pPr>
            <a:r>
              <a:t>对照组 (CanProve 能处理):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宽松边界: a+b+c=100 =&gt; a*b*c &lt;= 100000  -&gt; True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2 变量非线性: a,b in [2,10] =&gt; a*b &lt;= 100  -&gt; True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3 变量但宽松: M,N,K in [16,256] =&gt; M*N*K &lt;= 16777216  -&gt; True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验证结论: CanProve vs Z3 能力对比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Z3 是标准 CanProve 的严格超集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TileLang-Ascend Auto Sync Insert Optimization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963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能力维度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标准 CanProve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Z3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963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线性表达式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963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线性 + 范围约束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963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模算术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963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FloorDiv/FloorMod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963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条件蕴含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963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 变量非线性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963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Pipeline Dispatch / Flash Attn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963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切片字节范围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7963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 变量非线性 + 等式约束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FAIL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7963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约束集等价性 (双向蕴含)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简单可, 复杂失败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7963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存在性量化 (exists)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FAIL (只能 forall)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0796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CountSatisfyingValues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FAIL (不返回计数)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五、Z3 的业务价值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四个核心价值点与优先级矩阵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TileLang-Ascend Auto Sync Insert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7432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743200" cy="54864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3545"/>
                </a:solidFill>
                <a:latin typeface="Microsoft YaHei"/>
              </a:defRPr>
            </a:pPr>
            <a:r>
              <a:t>约束优化精确边界推断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GEMM / Flash Attention</a:t>
            </a:r>
            <a:br/>
            <a:r>
              <a:t>受约束的尺寸检查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017520"/>
            <a:ext cx="1097280" cy="3200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HIGH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371600"/>
            <a:ext cx="27432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7560" y="1371600"/>
            <a:ext cx="2743200" cy="54864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0" y="1508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D7E14"/>
                </a:solidFill>
                <a:latin typeface="Microsoft YaHei"/>
              </a:defRPr>
            </a:pPr>
            <a:r>
              <a:t>约束集等价性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920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判断两组约束是否</a:t>
            </a:r>
            <a:br/>
            <a:r>
              <a:t>描述同一组执行上下文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3017520"/>
            <a:ext cx="1097280" cy="32004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0" y="3017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MID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27432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2743200" cy="5486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1508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A745"/>
                </a:solidFill>
                <a:latin typeface="Microsoft YaHei"/>
              </a:defRPr>
            </a:pPr>
            <a:r>
              <a:t>存在性量化 (exists)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920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优化问题的反例发现</a:t>
            </a:r>
            <a:br/>
            <a:r>
              <a:t>返回具体反例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3017520"/>
            <a:ext cx="1097280" cy="3200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3017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1371600"/>
            <a:ext cx="27432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98280" y="1371600"/>
            <a:ext cx="2743200" cy="54864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35440" y="1508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757D"/>
                </a:solidFill>
                <a:latin typeface="Microsoft YaHei"/>
              </a:defRPr>
            </a:pPr>
            <a:r>
              <a:t>CountSatisfyingValues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1920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GPU partial barrier</a:t>
            </a:r>
            <a:br/>
            <a:r>
              <a:t>线程计数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3017520"/>
            <a:ext cx="1097280" cy="3200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35440" y="3017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N/A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对 Ascend 的价值评估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65760" y="4389120"/>
          <a:ext cx="11430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价值点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紧迫性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实现难度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收益/成本比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Ascend 适用性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非线性 + 等式约束精确边界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*****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直接适用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约束等价性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MID (未来需要)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未来多核扩展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存在性量化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诊断用途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CountSatisfyingValues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不适用 (单核)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六、技术路线选择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三条路线对比与推荐方案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TileLang-Ascend Auto Sync Insert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61188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11880" cy="4572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44475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路线 A: 纯标准 CanProve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920240"/>
            <a:ext cx="1005840" cy="2743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80360" y="1920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最保守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无额外依赖，最快实施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95% 场景足够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三变量非线性无法处理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371600"/>
            <a:ext cx="361188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60" y="1371600"/>
            <a:ext cx="36118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144475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路线 B: CanProve + Z3 兜底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1920240"/>
            <a:ext cx="1005840" cy="2743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1920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推荐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286000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性能与精度最佳平衡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Z3 失败/超时自动回退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需引入 Z3 库依赖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371600"/>
            <a:ext cx="361188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1371600"/>
            <a:ext cx="3611880" cy="457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83880" y="144475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路线 C: 完全替换为 Z3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69880" y="1920240"/>
            <a:ext cx="1005840" cy="2743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69880" y="1920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最激进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286000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最大精度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性能开销 10-100ms/次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Z3 超时可能拖慢编译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TVM 基础设施差距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65760" y="475488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组件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TileLang-GPU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TileLang-Ascend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处理方案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arith::Analyzer::z3_prover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Backport 或独立封装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ConstrSet / ConstrVisitor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从 GPU 版本移植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Z3 库链接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CMake 引入 Z3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arith::Analyzer::CanProve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可直接用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int_set / const_int_bound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可直接用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七、移植收益: For 循环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符号化迭代偏移 - 最深远的收益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TileLang-Ascend Auto Sync Insert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66928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C3545"/>
                </a:solidFill>
                <a:latin typeface="Microsoft YaHei"/>
              </a:defRPr>
            </a:pPr>
            <a:r>
              <a:t>当前方案: 物理展开 + 启发式合并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ForLoopUnroller: 展开为 2 次迭代 (L308-357)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标准同步插入逻辑线性处理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LoopRebuilder: 合并取并集后重建 For (L385-833)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缺陷: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  - 展开后丢失 loop_var 符号信息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  - 只能检测相邻 2 次迭代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  - 合并启发式约 450 行代码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4864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8A745"/>
                </a:solidFill>
                <a:latin typeface="Microsoft YaHei"/>
              </a:defRPr>
            </a:pPr>
            <a:r>
              <a:t>Z3 方案: 符号化迭代偏移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核心: loop_var -&gt; loop_var+1 替换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例 1: A[i] vs A[i+1]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  CanProve(i != i+1) -&gt; 恒成立, 不插同步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例 2: A[i] vs A[(i+1)-1] = A[i]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  CanProve(i != i) -&gt; 重叠, 插同步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例 3: buf[i%2] vs buf[(i+1)%2]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  Z3: (i+1)%2 != i%2 -&gt; 不重叠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收益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6634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高精度判断跨迭代依赖 (精度从 '中' 提升到 '高')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支持任意距离 (loop_var+k, 覆盖距离&gt;1 场景)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消除展开/合并复杂代码, 减少约 450 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七、移植收益: If/Else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精判分支条件与 pipeline 冲突 - 最直接的收益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TileLang-Ascend Auto Sync Insert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66928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C3545"/>
                </a:solidFill>
                <a:latin typeface="Microsoft YaHei"/>
              </a:defRPr>
            </a:pPr>
            <a:r>
              <a:t>当前: 无条件 2x PipeBarrier_ALL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VisitStmt_(IfThenElseNode) L272-290: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  InsertSync(PipeBarrier_ALL)  // if 前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  ... body ...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  InsertSync(PipeBarrier_ALL)  // if 后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后果: 每个 if 无条件 2 个全量 barrier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Flash Attention 大量分支 -&gt; 性能损失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4864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8A745"/>
                </a:solidFill>
                <a:latin typeface="Microsoft YaHei"/>
              </a:defRPr>
            </a:pPr>
            <a:r>
              <a:t>Z3 方案: 按需精确插入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1. 收集 if 前的访问上下文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2. 收集 then/else 分支的所有访问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3. CanProve 证明字节范围不重叠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4. 按需插入对应 pipeline 的 barrier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   (非全量 PipeBarrier_ALL)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   PipeBarrier_PIPE_M 或 PIPE_V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ACC"/>
                </a:solidFill>
                <a:latin typeface="Microsoft YaHei"/>
              </a:defRPr>
            </a:pPr>
            <a:r>
              <a:t>切片访问: 字节范围精确分析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114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当前: is_sliced -&gt; 无条件 PipeBarrier_ALL</a:t>
            </a:r>
          </a:p>
          <a:p>
            <a:pPr>
              <a:spcAft>
                <a:spcPts val="3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优化: CanProve(curr.max &lt; prev.min || prev.max &lt; curr.min)</a:t>
            </a:r>
          </a:p>
          <a:p>
            <a:pPr>
              <a:spcAft>
                <a:spcPts val="3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收益: 精确消除不重叠切片的冗余同步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ACC"/>
                </a:solidFill>
                <a:latin typeface="Microsoft YaHei"/>
              </a:defRPr>
            </a:pPr>
            <a:r>
              <a:t>依赖检测: 符号化字节粒度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114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当前: buffer name + 物理地址区间 -&gt; 假阳性</a:t>
            </a:r>
          </a:p>
          <a:p>
            <a:pPr>
              <a:spcAft>
                <a:spcPts val="3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优化: CanProve 精确判断字节范围是否重叠</a:t>
            </a:r>
          </a:p>
          <a:p>
            <a:pPr>
              <a:spcAft>
                <a:spcPts val="300"/>
              </a:spcAft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收益: 减少同 buffer 不同切片的假阳性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486400"/>
            <a:ext cx="11430000" cy="73152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预估: 70-90% 的 if 可完全消除冗余 barrier  |  Flash Attention 等大量分支算子显著受益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八、实施计划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分阶段渐进式实施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TileLang-Ascend Auto Sync Insert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2231136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2231136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353312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阶段 0: 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  <a:latin typeface="Microsoft YaHei"/>
              </a:defRPr>
            </a:pPr>
            <a:r>
              <a:t>已完成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828800"/>
            <a:ext cx="91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rPr lang="en-US" dirty="0"/>
              <a:t>1</a:t>
            </a:r>
            <a:r>
              <a:rPr dirty="0"/>
              <a:t> 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194560"/>
            <a:ext cx="204825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  <a:latin typeface="Microsoft YaHei"/>
              </a:defRPr>
            </a:pPr>
            <a:r>
              <a:t>22 个基础测试全部通过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  <a:latin typeface="Microsoft YaHei"/>
              </a:defRPr>
            </a:pPr>
            <a:r>
              <a:t>9 大类业务边界测试通过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  <a:latin typeface="Microsoft YaHei"/>
              </a:defRPr>
            </a:pPr>
            <a:r>
              <a:t>识别唯一失败场景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15184" y="1280160"/>
            <a:ext cx="2231136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615184" y="1280160"/>
            <a:ext cx="2231136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06624" y="1353312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阶段 1: If/Else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6624" y="1828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Microsoft YaHei"/>
              </a:defRPr>
            </a:pPr>
            <a:r>
              <a:t>优先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1828800"/>
            <a:ext cx="91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rPr dirty="0"/>
              <a:t>2周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6624" y="2194560"/>
            <a:ext cx="204825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  <a:latin typeface="Microsoft YaHei"/>
              </a:defRPr>
            </a:pPr>
            <a:r>
              <a:t>替代保守 PipeBarrier_ALL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  <a:latin typeface="Microsoft YaHei"/>
              </a:defRPr>
            </a:pPr>
            <a:r>
              <a:t>CanProve 精确分析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  <a:latin typeface="Microsoft YaHei"/>
              </a:defRPr>
            </a:pPr>
            <a:r>
              <a:t>barrier 减少 50%+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6048" y="1280160"/>
            <a:ext cx="2231136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956048" y="1280160"/>
            <a:ext cx="2231136" cy="457200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47488" y="1353312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阶段 2: 切片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7488" y="1828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88A"/>
                </a:solidFill>
                <a:latin typeface="Microsoft YaHei"/>
              </a:defRPr>
            </a:pPr>
            <a:r>
              <a:t>容易实施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1828800"/>
            <a:ext cx="91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rPr dirty="0"/>
              <a:t>2 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7488" y="2194560"/>
            <a:ext cx="204825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  <a:latin typeface="Microsoft YaHei"/>
              </a:defRPr>
            </a:pPr>
            <a:r>
              <a:t>字节范围精确分析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  <a:latin typeface="Microsoft YaHei"/>
              </a:defRPr>
            </a:pPr>
            <a:r>
              <a:t>替代 is_sliced 保守策略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  <a:latin typeface="Microsoft YaHei"/>
              </a:defRPr>
            </a:pPr>
            <a:r>
              <a:t>barrier 减少 30%+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1280160"/>
            <a:ext cx="2231136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296912" y="1280160"/>
            <a:ext cx="2231136" cy="45720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88352" y="1353312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阶段 3: 循环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8352" y="1828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D7E14"/>
                </a:solidFill>
                <a:latin typeface="Microsoft YaHei"/>
              </a:defRPr>
            </a:pPr>
            <a:r>
              <a:t>收益深远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5632" y="1828800"/>
            <a:ext cx="91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rPr lang="en-US" dirty="0"/>
              <a:t>2 </a:t>
            </a:r>
            <a:r>
              <a:rPr dirty="0"/>
              <a:t>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8352" y="2194560"/>
            <a:ext cx="204825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  <a:latin typeface="Microsoft YaHei"/>
              </a:defRPr>
            </a:pPr>
            <a:r>
              <a:t>符号化迭代偏移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  <a:latin typeface="Microsoft YaHei"/>
              </a:defRPr>
            </a:pPr>
            <a:r>
              <a:t>移除 ~450 行展开/合并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  <a:latin typeface="Microsoft YaHei"/>
              </a:defRPr>
            </a:pPr>
            <a:r>
              <a:t>代码减少 40%+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37776" y="1280160"/>
            <a:ext cx="2231136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637776" y="1280160"/>
            <a:ext cx="2231136" cy="4572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29216" y="1353312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阶段 4: Z3 集成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9216" y="1828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757D"/>
                </a:solidFill>
                <a:latin typeface="Microsoft YaHei"/>
              </a:defRPr>
            </a:pPr>
            <a:r>
              <a:t>基础设施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26496" y="1828800"/>
            <a:ext cx="91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rPr lang="en-US" dirty="0"/>
              <a:t>2</a:t>
            </a:r>
            <a:r>
              <a:rPr dirty="0"/>
              <a:t> 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9216" y="2194560"/>
            <a:ext cx="204825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  <a:latin typeface="Microsoft YaHei"/>
              </a:defRPr>
            </a:pPr>
            <a:r>
              <a:t>Backport Z3Prover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  <a:latin typeface="Microsoft YaHei"/>
              </a:defRPr>
            </a:pPr>
            <a:r>
              <a:t>CanProveWithZ3Fallback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  <a:latin typeface="Microsoft YaHei"/>
              </a:defRPr>
            </a:pPr>
            <a:r>
              <a:t>混合策略实现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推荐执行路径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669280"/>
            <a:ext cx="731520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574243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W1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80160" y="5669280"/>
            <a:ext cx="274320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280160" y="5742432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W</a:t>
            </a:r>
            <a:r>
              <a:rPr lang="en-US" dirty="0"/>
              <a:t>3</a:t>
            </a:r>
            <a:endParaRPr dirty="0"/>
          </a:p>
        </p:txBody>
      </p:sp>
      <p:sp>
        <p:nvSpPr>
          <p:cNvPr id="42" name="Rectangle 41"/>
          <p:cNvSpPr/>
          <p:nvPr/>
        </p:nvSpPr>
        <p:spPr>
          <a:xfrm>
            <a:off x="4114800" y="5669280"/>
            <a:ext cx="2286000" cy="457200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14800" y="5742432"/>
            <a:ext cx="228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W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44" name="Rectangle 43"/>
          <p:cNvSpPr/>
          <p:nvPr/>
        </p:nvSpPr>
        <p:spPr>
          <a:xfrm>
            <a:off x="6492240" y="5669280"/>
            <a:ext cx="2286000" cy="45720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67450" y="5742432"/>
            <a:ext cx="25107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W7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69680" y="5669280"/>
            <a:ext cx="2286000" cy="4572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869680" y="5742432"/>
            <a:ext cx="228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W</a:t>
            </a:r>
            <a:r>
              <a:rPr lang="en-US" dirty="0"/>
              <a:t>9</a:t>
            </a:r>
            <a:endParaRPr dirty="0"/>
          </a:p>
        </p:txBody>
      </p:sp>
      <p:sp>
        <p:nvSpPr>
          <p:cNvPr id="48" name="TextBox 47"/>
          <p:cNvSpPr txBox="1"/>
          <p:nvPr/>
        </p:nvSpPr>
        <p:spPr>
          <a:xfrm>
            <a:off x="457200" y="61264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验证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6126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If/Else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6126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切片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6126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循环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69680" y="6126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Z3 集成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九、预期收益总结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量化改善预估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TileLang-Ascend Auto Sync Insert Optimization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场景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当前方案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Z3 增强后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改善幅度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For 循环 - 相邻不重叠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物理展开 (精度中)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符号化证明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高精度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For 循环 - 跨多迭代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无法检测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可扩展任意距离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覆盖盲区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If/Else - 访问不冲突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2x PipeBarrier_ALL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按需精确插入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70-90% 消除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切片 - offset/extent 已知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无条件 PipeBarrier_ALL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字节范围精确分析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精确消除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依赖检测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整体 buffer 粒度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符号化字节粒度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减少假阳性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代码复杂度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展开/合并 ~450 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符号化分析 ~250 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-45%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Flash Attention 性能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大量冗余 barrier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分支同步精准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5-15% 提升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编译性能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基准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混合策略 +5-10%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可接受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5486400"/>
            <a:ext cx="11430000" cy="73152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核心收益: barrier 减少 70-90% (If/Else)  |  代码减少 45% (循环)  |  Flash Attention 性能提升 5-15%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十、风险评估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风险识别与缓解措施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TileLang-Ascend Auto Sync Insert Optimization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风险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严重度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概率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缓解措施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编译性能下降 (Z3 耗时)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混合策略: CanProve 快速路径优先</a:t>
                      </a:r>
                    </a:p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SetTimeoutMs(50) 超时回退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Z3 求解超时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SetTimeoutMs + SetRLimit 双保险</a:t>
                      </a:r>
                    </a:p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超时回退保守策略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TVM 子模块版本冲突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优先评估 GPU TVM 补丁兼容性</a:t>
                      </a:r>
                    </a:p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不可行时选独立封装路线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正确性回退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Z3 失败时自动回退保守策略</a:t>
                      </a:r>
                    </a:p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每阶段编写回归测试验证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Z3 库维护成本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Z3 是成熟开源库 (MIT)</a:t>
                      </a:r>
                    </a:p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CMake 集成标准化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Ascend 单线程模型差异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去掉 GPU 线程变量替换逻辑</a:t>
                      </a:r>
                    </a:p>
                    <a:p>
                      <a:pPr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仅复用 Z3 约束求解能力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十一、结论与建议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核心发现与推荐方案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TileLang-Ascend Auto Sync Insert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61188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3611880" cy="5486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94360" y="1463040"/>
            <a:ext cx="365760" cy="36576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4630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A745"/>
                </a:solidFill>
                <a:latin typeface="Microsoft YaHei"/>
              </a:defRPr>
            </a:pPr>
            <a:r>
              <a:t>95% 场景 CanProve 已足够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65960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22 个基础测试 + 9 大类业务边界测试全部通过</a:t>
            </a:r>
            <a:br/>
            <a:r>
              <a:t>线性、模算术、FloorDiv、双变量非线性、切片判断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280160"/>
            <a:ext cx="361188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60" y="1280160"/>
            <a:ext cx="3611880" cy="54864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389120" y="1463040"/>
            <a:ext cx="365760" cy="365760"/>
          </a:xfrm>
          <a:prstGeom prst="ellipse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4630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D7E14"/>
                </a:solidFill>
                <a:latin typeface="Microsoft YaHei"/>
              </a:defRPr>
            </a:pPr>
            <a:r>
              <a:t>3 变量非线性是 CanProve 的边界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965960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a+b+c=100 =&gt; a*b*c &lt;= 37026  (CanProve FAIL, Z3 PASS)</a:t>
            </a:r>
            <a:br/>
            <a:r>
              <a:t>GEMM/Flash Attention buffer 布局检查中真实存在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280160"/>
            <a:ext cx="361188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1280160"/>
            <a:ext cx="3611880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183880" y="1463040"/>
            <a:ext cx="365760" cy="36576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14630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Microsoft YaHei"/>
              </a:defRPr>
            </a:pPr>
            <a:r>
              <a:t>Z3 是 CanProve 的严格超集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1965960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除 CountSatisfyingValues (Ascend 不需要) 外</a:t>
            </a:r>
            <a:br/>
            <a:r>
              <a:t>Z3 在所有约束求解问题上精度 &gt;= CanProve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566160"/>
            <a:ext cx="11430000" cy="128016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推荐方案: 引入 Z3, 采用混合策略 (CanProve 优先 + Z3 兜底)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引入成本可控 (MIT 开源)  |  能力覆盖完整  |  性能影响可控 (95% 快速路径)  |  未来兼容性好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关键原则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86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先验证后实施: 每一步先验证标准 CanProve 的证明能力</a:t>
            </a:r>
          </a:p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渐进式移植: 先高价值 (If/Else) -&gt; 易实施 (切片) -&gt; 深收益 (循环)</a:t>
            </a:r>
          </a:p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保守策略兜底: Z3 失败/超时时自动回退, 保证正确性优先</a:t>
            </a:r>
          </a:p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性能安全阈: SetTimeoutMs(50) + SetRLimit 防止 Z3 拖慢编译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关键决策点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Microsoft YaHei"/>
              </a:defRPr>
            </a:pPr>
            <a:r>
              <a:t>需要讨论确认的三个决策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TileLang-Ascend Auto Sync Insert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61188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118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44475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决策 1: 求解器选择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C757D"/>
                </a:solidFill>
                <a:latin typeface="Microsoft YaHei"/>
              </a:defRPr>
            </a:pPr>
            <a:r>
              <a:t>方案 1a: 纯标准 CanProve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95% 场景够用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889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C757D"/>
                </a:solidFill>
                <a:latin typeface="Microsoft YaHei"/>
              </a:defRPr>
            </a:pPr>
            <a:r>
              <a:t>方案 1b: 直接集成 Z3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一步到位, 依赖重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661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Microsoft YaHei"/>
              </a:defRPr>
            </a:pPr>
            <a:r>
              <a:t>推荐: 混合策略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862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先快后准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1371600"/>
            <a:ext cx="361188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51960" y="1371600"/>
            <a:ext cx="3611880" cy="457200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0" y="144475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决策 2: Z3 集成方式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01168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C757D"/>
                </a:solidFill>
                <a:latin typeface="Microsoft YaHei"/>
              </a:defRPr>
            </a:pPr>
            <a:r>
              <a:t>方案 2a: Backport Z3Prover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3317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与现有代码风格一致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7889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C757D"/>
                </a:solidFill>
                <a:latin typeface="Microsoft YaHei"/>
              </a:defRPr>
            </a:pPr>
            <a:r>
              <a:t>方案 2b: 独立 Z3 封装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1089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不依赖 TVM 版本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5661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A88A"/>
                </a:solidFill>
                <a:latin typeface="Microsoft YaHei"/>
              </a:defRPr>
            </a:pPr>
            <a:r>
              <a:t>推荐: 方案 2a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8862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接口无缝衔接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1371600"/>
            <a:ext cx="361188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46720" y="1371600"/>
            <a:ext cx="3611880" cy="45720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83880" y="144475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决策 3: Z3 超时策略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201168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C757D"/>
                </a:solidFill>
                <a:latin typeface="Microsoft YaHei"/>
              </a:defRPr>
            </a:pPr>
            <a:r>
              <a:t>方案 3a: 固定超时 50ms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23317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简单直接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27889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D7E14"/>
                </a:solidFill>
                <a:latin typeface="Microsoft YaHei"/>
              </a:defRPr>
            </a:pPr>
            <a:r>
              <a:t>推荐: SetRLimit + 超时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31089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双保险策略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2286000"/>
            <a:ext cx="73152" cy="1828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CCEE"/>
                </a:solidFill>
                <a:latin typeface="Microsoft YaHei"/>
              </a:defRPr>
            </a:pPr>
            <a:r>
              <a:t>TileLang-Ascend Auto Sync Insert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Microsoft YaHei"/>
              </a:defRPr>
            </a:pPr>
            <a:r>
              <a:t>下一步: 按阶段实施混合策略方案 (CanProve 优先 + Z3 兜底)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2386</Words>
  <Application>Microsoft Office PowerPoint</Application>
  <PresentationFormat>宽屏</PresentationFormat>
  <Paragraphs>615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 c</cp:lastModifiedBy>
  <cp:revision>1</cp:revision>
  <dcterms:created xsi:type="dcterms:W3CDTF">2013-01-27T09:14:16Z</dcterms:created>
  <dcterms:modified xsi:type="dcterms:W3CDTF">2026-06-12T06:32:43Z</dcterms:modified>
  <cp:category/>
</cp:coreProperties>
</file>