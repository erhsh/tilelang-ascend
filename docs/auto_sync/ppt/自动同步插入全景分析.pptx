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00D2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7C4D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-2743200"/>
            <a:ext cx="4572000" cy="4572000"/>
          </a:xfrm>
          <a:prstGeom prst="ellipse">
            <a:avLst/>
          </a:prstGeom>
          <a:solidFill>
            <a:srgbClr val="00E696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自动同步插入全景分析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834640"/>
            <a:ext cx="3657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BBCC"/>
                </a:solidFill>
                <a:latin typeface="Microsoft YaHei"/>
              </a:defRPr>
            </a:pPr>
            <a:r>
              <a:t>Ascend NPU Auto Sync Insertion — Full Landscape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Microsoft YaHei"/>
              </a:defRPr>
            </a:pPr>
            <a:r>
              <a:t>TileLang Compiler Team  |  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目录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685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71907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背景与目标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7830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为什么需要自动同步 &amp; 核心原则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0515600" cy="685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49631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Pass 流水线总览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560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编译 Pass 执行顺序 &amp; 配置开关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10515600" cy="685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4612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27355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核内同步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337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AscendSyncInsert 七步核心流程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77640"/>
            <a:ext cx="10515600" cy="685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05079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核间同步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1148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CombineCV + CrossCoreSync 五步流程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54880"/>
            <a:ext cx="10515600" cy="685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80060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82803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问题收集与维度分析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892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日常问题 / Issue 跟踪 / 分类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532120"/>
            <a:ext cx="10515600" cy="685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7784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60527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669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能力矩阵 &amp; 六大改进方向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背景与目标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105156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为什么需要自动同步 &amp; 核心原则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Ascend NPU 多核异构架构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硬件并行流水线</a:t>
            </a:r>
          </a:p>
          <a:p>
            <a:pPr>
              <a:lnSpc>
                <a:spcPts val="1690"/>
              </a:lnSpc>
              <a:spcBef>
                <a:spcPts val="400"/>
              </a:spcBef>
            </a:pPr>
            <a:r>
              <a:rPr sz="11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300" b="0">
                <a:solidFill>
                  <a:srgbClr val="BBBBCC"/>
                </a:solidFill>
                <a:latin typeface="Microsoft YaHei"/>
              </a:rPr>
              <a:t>PIPE_MTE1 / MTE2 / MTE3 / PIPE_M / PIPE_V / PIPE_S / PIPE_FIX</a:t>
            </a:r>
          </a:p>
          <a:p>
            <a:pPr>
              <a:lnSpc>
                <a:spcPts val="1040"/>
              </a:lnSpc>
              <a:spcBef>
                <a:spcPts val="400"/>
              </a:spcBef>
            </a:pPr>
            <a:r>
              <a:rPr sz="800" b="0">
                <a:solidFill>
                  <a:srgbClr val="BBBBCC"/>
                </a:solidFill>
                <a:latin typeface="Microsoft YaHei"/>
              </a:rPr>
              <a:t/>
            </a:r>
          </a:p>
          <a:p>
            <a:pPr>
              <a:lnSpc>
                <a:spcPts val="2080"/>
              </a:lnSpc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同步机制</a:t>
            </a:r>
          </a:p>
          <a:p>
            <a:pPr>
              <a:lnSpc>
                <a:spcPts val="1690"/>
              </a:lnSpc>
              <a:spcBef>
                <a:spcPts val="400"/>
              </a:spcBef>
            </a:pPr>
            <a:r>
              <a:rPr sz="11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300" b="0">
                <a:solidFill>
                  <a:srgbClr val="BBBBCC"/>
                </a:solidFill>
                <a:latin typeface="Microsoft YaHei"/>
              </a:rPr>
              <a:t>PipeBarrier — 同一流水线内的屏障同步</a:t>
            </a:r>
          </a:p>
          <a:p>
            <a:pPr>
              <a:lnSpc>
                <a:spcPts val="1690"/>
              </a:lnSpc>
              <a:spcBef>
                <a:spcPts val="400"/>
              </a:spcBef>
            </a:pPr>
            <a:r>
              <a:rPr sz="11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300" b="0">
                <a:solidFill>
                  <a:srgbClr val="BBBBCC"/>
                </a:solidFill>
                <a:latin typeface="Microsoft YaHei"/>
              </a:rPr>
              <a:t>EventPair (SetFlag / WaitFlag) — 跨流水线异步同步</a:t>
            </a:r>
          </a:p>
          <a:p>
            <a:pPr>
              <a:lnSpc>
                <a:spcPts val="1040"/>
              </a:lnSpc>
              <a:spcBef>
                <a:spcPts val="400"/>
              </a:spcBef>
            </a:pPr>
            <a:r>
              <a:rPr sz="800" b="0">
                <a:solidFill>
                  <a:srgbClr val="BBBBCC"/>
                </a:solidFill>
                <a:latin typeface="Microsoft YaHei"/>
              </a:rPr>
              <a:t/>
            </a:r>
          </a:p>
          <a:p>
            <a:pPr>
              <a:lnSpc>
                <a:spcPts val="2080"/>
              </a:lnSpc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手动编写同步代码的痛点</a:t>
            </a:r>
          </a:p>
          <a:p>
            <a:pPr>
              <a:lnSpc>
                <a:spcPts val="1690"/>
              </a:lnSpc>
              <a:spcBef>
                <a:spcPts val="400"/>
              </a:spcBef>
            </a:pPr>
            <a:r>
              <a:rPr sz="11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300" b="0">
                <a:solidFill>
                  <a:srgbClr val="FF5555"/>
                </a:solidFill>
                <a:latin typeface="Microsoft YaHei"/>
              </a:rPr>
              <a:t>易出错 — 流水线间依赖关系复杂，容易漏插或错插</a:t>
            </a:r>
          </a:p>
          <a:p>
            <a:pPr>
              <a:lnSpc>
                <a:spcPts val="1690"/>
              </a:lnSpc>
              <a:spcBef>
                <a:spcPts val="400"/>
              </a:spcBef>
            </a:pPr>
            <a:r>
              <a:rPr sz="11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300" b="0">
                <a:solidFill>
                  <a:srgbClr val="FF9F43"/>
                </a:solidFill>
                <a:latin typeface="Microsoft YaHei"/>
              </a:rPr>
              <a:t>维护成本高 — 算子逻辑变更时同步代码需同步调整</a:t>
            </a:r>
          </a:p>
          <a:p>
            <a:pPr>
              <a:lnSpc>
                <a:spcPts val="1690"/>
              </a:lnSpc>
              <a:spcBef>
                <a:spcPts val="400"/>
              </a:spcBef>
            </a:pPr>
            <a:r>
              <a:rPr sz="11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300" b="0">
                <a:solidFill>
                  <a:srgbClr val="FFD600"/>
                </a:solidFill>
                <a:latin typeface="Microsoft YaHei"/>
              </a:rPr>
              <a:t>性能调优难 — 同步粒度和位置直接影响流水线并行度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Microsoft YaHei"/>
              </a:defRPr>
            </a:pPr>
            <a:r>
              <a:t>自动同步的目标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560320"/>
            <a:ext cx="4572000" cy="502920"/>
          </a:xfrm>
          <a:prstGeom prst="roundRect">
            <a:avLst>
              <a:gd name="adj" fmla="val 5000"/>
            </a:avLst>
          </a:prstGeom>
          <a:solidFill>
            <a:srgbClr val="202A44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63347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用户代码（无同步）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686800" y="3063240"/>
            <a:ext cx="182880" cy="228600"/>
          </a:xfrm>
          <a:prstGeom prst="downArrow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0" y="3337560"/>
            <a:ext cx="4572000" cy="502920"/>
          </a:xfrm>
          <a:prstGeom prst="roundRect">
            <a:avLst>
              <a:gd name="adj" fmla="val 5000"/>
            </a:avLst>
          </a:prstGeom>
          <a:solidFill>
            <a:srgbClr val="202A44"/>
          </a:solidFill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34107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自动分析数据依赖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686800" y="3840480"/>
            <a:ext cx="182880" cy="228600"/>
          </a:xfrm>
          <a:prstGeom prst="downArrow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0" y="4114800"/>
            <a:ext cx="4572000" cy="502920"/>
          </a:xfrm>
          <a:prstGeom prst="roundRect">
            <a:avLst>
              <a:gd name="adj" fmla="val 5000"/>
            </a:avLst>
          </a:prstGeom>
          <a:solidFill>
            <a:srgbClr val="202A44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418795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自动插入最优同步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686800" y="4617720"/>
            <a:ext cx="182880" cy="228600"/>
          </a:xfrm>
          <a:prstGeom prst="downArrow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0" y="4892040"/>
            <a:ext cx="4572000" cy="502920"/>
          </a:xfrm>
          <a:prstGeom prst="roundRect">
            <a:avLst>
              <a:gd name="adj" fmla="val 5000"/>
            </a:avLst>
          </a:prstGeom>
          <a:solidFill>
            <a:srgbClr val="202A44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9651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正确的并行执行代码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1206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Bef>
                <a:spcPts val="1200"/>
              </a:spcBef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核心原则</a:t>
            </a:r>
          </a:p>
          <a:p>
            <a:pPr>
              <a:lnSpc>
                <a:spcPts val="1690"/>
              </a:lnSpc>
              <a:spcBef>
                <a:spcPts val="400"/>
              </a:spcBef>
            </a:pPr>
            <a:r>
              <a:rPr sz="11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300" b="0">
                <a:solidFill>
                  <a:srgbClr val="00E696"/>
                </a:solidFill>
                <a:latin typeface="Microsoft YaHei"/>
              </a:rPr>
              <a:t>正确性优先 — 确保所有数据依赖都被正确同步</a:t>
            </a:r>
          </a:p>
          <a:p>
            <a:pPr>
              <a:lnSpc>
                <a:spcPts val="1690"/>
              </a:lnSpc>
              <a:spcBef>
                <a:spcPts val="400"/>
              </a:spcBef>
            </a:pPr>
            <a:r>
              <a:rPr sz="11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300" b="0">
                <a:solidFill>
                  <a:srgbClr val="00E696"/>
                </a:solidFill>
                <a:latin typeface="Microsoft YaHei"/>
              </a:rPr>
              <a:t>性能尽量优 — 避免过度同步，保持流水线并行度</a:t>
            </a:r>
          </a:p>
          <a:p>
            <a:pPr>
              <a:lnSpc>
                <a:spcPts val="1690"/>
              </a:lnSpc>
              <a:spcBef>
                <a:spcPts val="400"/>
              </a:spcBef>
            </a:pPr>
            <a:r>
              <a:rPr sz="11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300" b="0">
                <a:solidFill>
                  <a:srgbClr val="00E696"/>
                </a:solidFill>
                <a:latin typeface="Microsoft YaHei"/>
              </a:rPr>
              <a:t>对用户透明 — 用户无需关心同步细节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Pass 流水线总览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105156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编译 Pass 执行顺序 &amp; 配置开关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2194560"/>
            <a:ext cx="45720" cy="201168"/>
          </a:xfrm>
          <a:prstGeom prst="rect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CrossCorePipeline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核间 Pipeline：拆分 cube/vec 阶段循环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2852928"/>
            <a:ext cx="45720" cy="201168"/>
          </a:xfrm>
          <a:prstGeom prst="rect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3957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CombineCV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6700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CV 分离 + 核间同步自动插入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5409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3511296"/>
            <a:ext cx="45720" cy="201168"/>
          </a:xfrm>
          <a:prstGeom prst="rect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0540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PipelinePlanning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3284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核内 Pipeline：规划 software pipeline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1246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4169664"/>
            <a:ext cx="45720" cy="201168"/>
          </a:xfrm>
          <a:prstGeom prst="rect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7124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InjectSoftwarePipeline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9867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核内 Pipeline：注入 software pipeline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3708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BBB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" y="4828032"/>
            <a:ext cx="45720" cy="201168"/>
          </a:xfrm>
          <a:prstGeom prst="rect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3708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中间辅助 Pass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6451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LowerOpaqueBlock / FlattenBuffer / VectorizeLoop ...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29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" y="5486400"/>
            <a:ext cx="45720" cy="201168"/>
          </a:xfrm>
          <a:prstGeom prst="rect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029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AscendMemoryPlanning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303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内存复用：计算 buffer 物理地址布局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875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6875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AscendSyncInsert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9618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核内同步：分析数据依赖，自动插入同步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173736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配置开关（PassContext）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2468880"/>
            <a:ext cx="4937760" cy="36576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24871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配置项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24871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控制目标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24871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默认值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2880360"/>
            <a:ext cx="4937760" cy="4114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2926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600"/>
                </a:solidFill>
                <a:latin typeface="Microsoft YaHei"/>
              </a:defRPr>
            </a:pPr>
            <a:r>
              <a:t>tl.ascend_auto_cv_combine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2926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CombineCV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2926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5555"/>
                </a:solidFill>
                <a:latin typeface="Microsoft YaHei"/>
              </a:defRPr>
            </a:pPr>
            <a:r>
              <a:t>False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0" y="3337560"/>
            <a:ext cx="4937760" cy="411480"/>
          </a:xfrm>
          <a:prstGeom prst="roundRect">
            <a:avLst>
              <a:gd name="adj" fmla="val 5000"/>
            </a:avLst>
          </a:prstGeom>
          <a:solidFill>
            <a:srgbClr val="1C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3383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600"/>
                </a:solidFill>
                <a:latin typeface="Microsoft YaHei"/>
              </a:defRPr>
            </a:pPr>
            <a:r>
              <a:t>tl.ascend_auto_cross_core_sync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3832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核间同步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33832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5555"/>
                </a:solidFill>
                <a:latin typeface="Microsoft YaHei"/>
              </a:defRPr>
            </a:pPr>
            <a:r>
              <a:t>False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0" y="3794760"/>
            <a:ext cx="4937760" cy="4114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3840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600"/>
                </a:solidFill>
                <a:latin typeface="Microsoft YaHei"/>
              </a:defRPr>
            </a:pPr>
            <a:r>
              <a:t>tl.ascend_auto_sync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3840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AscendSyncInsert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38404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5555"/>
                </a:solidFill>
                <a:latin typeface="Microsoft YaHei"/>
              </a:defRPr>
            </a:pPr>
            <a:r>
              <a:t>False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0" y="4251960"/>
            <a:ext cx="4937760" cy="411480"/>
          </a:xfrm>
          <a:prstGeom prst="roundRect">
            <a:avLst>
              <a:gd name="adj" fmla="val 5000"/>
            </a:avLst>
          </a:prstGeom>
          <a:solidFill>
            <a:srgbClr val="1C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0" y="4297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600"/>
                </a:solidFill>
                <a:latin typeface="Microsoft YaHei"/>
              </a:defRPr>
            </a:pPr>
            <a:r>
              <a:t>tl.ascend_memory_planning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42976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MemoryPlanning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42976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5555"/>
                </a:solidFill>
                <a:latin typeface="Microsoft YaHei"/>
              </a:defRPr>
            </a:pPr>
            <a:r>
              <a:t>False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💡 所有 Pass 默认关闭，需显式开启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核内同步 — 核心流程（上）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105156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AscendSyncInsert · Steps 1-4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87452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4708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循环展开 ForLoopUnroller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将所有 For 循环展开为两次迭代</a:t>
            </a:r>
          </a:p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添加 iteration_start / end 标记</a:t>
            </a:r>
          </a:p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添加 unrolled_loop 标记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55080" y="1874520"/>
            <a:ext cx="411480" cy="411480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84708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逐语句分析 VisitStmt_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24028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AnalyzeStmtAccesses：提取 buffer 访问</a:t>
            </a:r>
          </a:p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匹配 operation_config 获取配置</a:t>
            </a:r>
          </a:p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识别读 / 写 / pipeline 类型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" y="4251960"/>
            <a:ext cx="411480" cy="411480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2452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依赖检测 HasDataDependency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1772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检查 RAW（写后读）依赖</a:t>
            </a:r>
          </a:p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检查 WAW（写后写）依赖</a:t>
            </a:r>
          </a:p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检查 WAR（读后写）依赖</a:t>
            </a:r>
          </a:p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基于物理地址判断内存重叠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11480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55080" y="4251960"/>
            <a:ext cx="411480" cy="411480"/>
          </a:xfrm>
          <a:prstGeom prst="ellipse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22452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同步类型决策 GetRequiredSyncType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1772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同 pipeline → PipeBarrier</a:t>
            </a:r>
          </a:p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跨 pipeline → EventPair</a:t>
            </a:r>
          </a:p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查询 event_mapping 确定事件类型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核内同步 — 核心流程（下）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105156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AscendSyncInsert · Steps 5-7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96596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385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同步优化 OptimizeSyncRequirements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SyncGraph 传递闭包优化</a:t>
            </a:r>
          </a:p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已有 A→B + B→C 则跳过 A→C</a:t>
            </a:r>
          </a:p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去重：合并相同的同步需求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4840" y="1965960"/>
            <a:ext cx="411480" cy="411480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9385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插入同步指令 InsertSynchronization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3317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PipeBarrier → ascend_auto_barrier(pipe)</a:t>
            </a:r>
          </a:p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EventPair → set_flag + wait_flag</a:t>
            </a:r>
          </a:p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A5 平台自动跳过 PIPE_V barrier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75320" y="1965960"/>
            <a:ext cx="411480" cy="411480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9385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循环重建 LoopRebuilder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3317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合并 iter1 / iter2 的同步指令</a:t>
            </a:r>
          </a:p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去重相同同步操作</a:t>
            </a:r>
          </a:p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恢复 For 循环节点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931920" y="2651760"/>
            <a:ext cx="320040" cy="182880"/>
          </a:xfrm>
          <a:prstGeom prst="rightArrow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7772400" y="2651760"/>
            <a:ext cx="320040" cy="182880"/>
          </a:xfrm>
          <a:prstGeom prst="rightArrow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5760720" y="3886200"/>
            <a:ext cx="182880" cy="365760"/>
          </a:xfrm>
          <a:prstGeom prst="downArrow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828800" y="4297680"/>
            <a:ext cx="8229600" cy="640080"/>
          </a:xfrm>
          <a:prstGeom prst="roundRect">
            <a:avLst>
              <a:gd name="adj" fmla="val 5000"/>
            </a:avLst>
          </a:prstGeom>
          <a:solidFill>
            <a:srgbClr val="202A44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0" y="43891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Microsoft YaHei"/>
              </a:defRPr>
            </a:pPr>
            <a:r>
              <a:t>✅  输出 IR（含同步指令）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212080"/>
            <a:ext cx="5486400" cy="13716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57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✅ 已支持功能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6235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80"/>
              </a:lnSpc>
              <a:spcBef>
                <a:spcPts val="20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顺序 / 循环场景下数据依赖自动插同步</a:t>
            </a:r>
          </a:p>
          <a:p>
            <a:pPr>
              <a:lnSpc>
                <a:spcPts val="1380"/>
              </a:lnSpc>
              <a:spcBef>
                <a:spcPts val="20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SyncGraph 传递闭包消除冗余 EventPair</a:t>
            </a:r>
          </a:p>
          <a:p>
            <a:pPr>
              <a:lnSpc>
                <a:spcPts val="1380"/>
              </a:lnSpc>
              <a:spcBef>
                <a:spcPts val="20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A5 平台 PIPE_V PipeBarrier 自动跳过</a:t>
            </a:r>
          </a:p>
          <a:p>
            <a:pPr>
              <a:lnSpc>
                <a:spcPts val="1380"/>
              </a:lnSpc>
              <a:spcBef>
                <a:spcPts val="20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基于物理地址的内存重叠检测 + 60+ 操作识别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212080"/>
            <a:ext cx="5486400" cy="13716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257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Microsoft YaHei"/>
              </a:defRPr>
            </a:pPr>
            <a:r>
              <a:t>⚠️ 待完善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6235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80"/>
              </a:lnSpc>
              <a:spcBef>
                <a:spcPts val="20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嵌套 for 循环依赖分析尚不完善</a:t>
            </a:r>
          </a:p>
          <a:p>
            <a:pPr>
              <a:lnSpc>
                <a:spcPts val="1380"/>
              </a:lnSpc>
              <a:spcBef>
                <a:spcPts val="20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IF_THEN_ELSE 保守处理（全量 PipeBarrier_ALL）</a:t>
            </a:r>
          </a:p>
          <a:p>
            <a:pPr>
              <a:lnSpc>
                <a:spcPts val="1380"/>
              </a:lnSpc>
              <a:spcBef>
                <a:spcPts val="20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Buffer 区间维度细粒度插同步（当前粗粒度）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核间同步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105156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CombineCV + AutoInsertCrossCoreSync 五步流程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828800"/>
            <a:ext cx="2148840" cy="25603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196596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3852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CV 分离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331720"/>
            <a:ext cx="1874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cube: gemm, copy_l1_to_l0a ...</a:t>
            </a:r>
          </a:p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vec: AscendC::*, copy_ub_to_gm ...</a:t>
            </a:r>
          </a:p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非当前 scope → Evaluate(0)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4348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2FF"/>
                </a:solidFill>
                <a:latin typeface="Microsoft YaHei"/>
              </a:defRPr>
            </a:pPr>
            <a:r>
              <a:t>CVCombineEmitter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23160" y="2926080"/>
            <a:ext cx="182880" cy="182880"/>
          </a:xfrm>
          <a:prstGeom prst="rightArrow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06040" y="1828800"/>
            <a:ext cx="2148840" cy="25603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43200" y="1965960"/>
            <a:ext cx="411480" cy="411480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93852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同步点收集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331720"/>
            <a:ext cx="1874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识别 GM 读写操作</a:t>
            </a:r>
          </a:p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提取 workspace / pipe / 读写方向</a:t>
            </a:r>
          </a:p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记录循环层级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4348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C4DFF"/>
                </a:solidFill>
                <a:latin typeface="Microsoft YaHei"/>
              </a:defRPr>
            </a:pPr>
            <a:r>
              <a:t>CrossCoreSyncCollector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754880" y="2926080"/>
            <a:ext cx="182880" cy="182880"/>
          </a:xfrm>
          <a:prstGeom prst="rightArrow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37760" y="1828800"/>
            <a:ext cx="2148840" cy="25603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74920" y="1965960"/>
            <a:ext cx="411480" cy="411480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193852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同步点匹配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331720"/>
            <a:ext cx="1874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按 workspace 分组匹配</a:t>
            </a:r>
          </a:p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校验数量一致 + 方向相反</a:t>
            </a:r>
          </a:p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分配 sync_flag_id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44348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E696"/>
                </a:solidFill>
                <a:latin typeface="Microsoft YaHei"/>
              </a:defRPr>
            </a:pPr>
            <a:r>
              <a:t>AutoInsertCrossCoreSync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86600" y="2926080"/>
            <a:ext cx="182880" cy="182880"/>
          </a:xfrm>
          <a:prstGeom prst="rightArrow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69480" y="1828800"/>
            <a:ext cx="2148840" cy="25603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06640" y="1965960"/>
            <a:ext cx="411480" cy="411480"/>
          </a:xfrm>
          <a:prstGeom prst="ellipse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193852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同步插入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2331720"/>
            <a:ext cx="1874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写操作后：set_cross_flag</a:t>
            </a:r>
          </a:p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读操作前：wait_cross_flag</a:t>
            </a:r>
          </a:p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cross_interval &gt; 1 → 条件同步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44348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D600"/>
                </a:solidFill>
                <a:latin typeface="Microsoft YaHei"/>
              </a:defRPr>
            </a:pPr>
            <a:r>
              <a:t>CrossCoreSyncInserter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418320" y="2926080"/>
            <a:ext cx="182880" cy="182880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01200" y="1828800"/>
            <a:ext cx="2148840" cy="25603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738360" y="1965960"/>
            <a:ext cx="411480" cy="411480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193852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Resource Scope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331720"/>
            <a:ext cx="1874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cube: resource_scope = 0</a:t>
            </a:r>
          </a:p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vec:  resource_scope = 1</a:t>
            </a:r>
          </a:p>
          <a:p>
            <a:pPr>
              <a:lnSpc>
                <a:spcPts val="1439"/>
              </a:lnSpc>
              <a:spcBef>
                <a:spcPts val="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44348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9F43"/>
                </a:solidFill>
                <a:latin typeface="Microsoft YaHei"/>
              </a:defRPr>
            </a:pPr>
            <a:r>
              <a:t>标记作用域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5760720" y="4709160"/>
            <a:ext cx="182880" cy="228600"/>
          </a:xfrm>
          <a:prstGeom prst="downArrow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371600" y="4937760"/>
            <a:ext cx="9144000" cy="548640"/>
          </a:xfrm>
          <a:prstGeom prst="roundRect">
            <a:avLst>
              <a:gd name="adj" fmla="val 5000"/>
            </a:avLst>
          </a:prstGeom>
          <a:solidFill>
            <a:srgbClr val="202A44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54480" y="501091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✅  输出 IR（cube_body + vec_body + 核间同步指令）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669280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715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✅ 已支持功能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080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  • CV 核间同步自动插入    • 智能目标循环选择（FindTargetLoopDepth）    • 6 种 GM 操作类型识别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问题收集与维度分析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105156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日常问题汇总 &amp; Issue 跟踪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737360"/>
            <a:ext cx="11430000" cy="41148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783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783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根因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783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影响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1783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严重度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194560"/>
            <a:ext cx="11430000" cy="4114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40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事件ID简单模8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240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核内同步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240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仅 8 个 ID 循环复用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伪依赖，阻塞流水线</a:t>
            </a:r>
          </a:p>
        </p:txBody>
      </p:sp>
      <p:sp>
        <p:nvSpPr>
          <p:cNvPr id="17" name="Oval 16"/>
          <p:cNvSpPr/>
          <p:nvPr/>
        </p:nvSpPr>
        <p:spPr>
          <a:xfrm>
            <a:off x="10241280" y="2304288"/>
            <a:ext cx="182880" cy="182880"/>
          </a:xfrm>
          <a:prstGeom prst="ellipse">
            <a:avLst/>
          </a:prstGeom>
          <a:solidFill>
            <a:srgbClr val="FF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5760" y="2651760"/>
            <a:ext cx="11430000" cy="411480"/>
          </a:xfrm>
          <a:prstGeom prst="roundRect">
            <a:avLst>
              <a:gd name="adj" fmla="val 5000"/>
            </a:avLst>
          </a:prstGeom>
          <a:solidFill>
            <a:srgbClr val="1C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697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set/wait_flag 紧挨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697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核内同步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697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EventPair 连续插入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697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降低流水线并行度</a:t>
            </a:r>
          </a:p>
        </p:txBody>
      </p:sp>
      <p:sp>
        <p:nvSpPr>
          <p:cNvPr id="23" name="Oval 22"/>
          <p:cNvSpPr/>
          <p:nvPr/>
        </p:nvSpPr>
        <p:spPr>
          <a:xfrm>
            <a:off x="10241280" y="2761488"/>
            <a:ext cx="182880" cy="182880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5760" y="3108960"/>
            <a:ext cx="11430000" cy="4114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pipeline 后同步非最优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3154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核内同步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Sync 在 Pipeline 之后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154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可能过度同步</a:t>
            </a:r>
          </a:p>
        </p:txBody>
      </p:sp>
      <p:sp>
        <p:nvSpPr>
          <p:cNvPr id="29" name="Oval 28"/>
          <p:cNvSpPr/>
          <p:nvPr/>
        </p:nvSpPr>
        <p:spPr>
          <a:xfrm>
            <a:off x="10241280" y="3218688"/>
            <a:ext cx="182880" cy="182880"/>
          </a:xfrm>
          <a:prstGeom prst="ellipse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65760" y="3566160"/>
            <a:ext cx="11430000" cy="411480"/>
          </a:xfrm>
          <a:prstGeom prst="roundRect">
            <a:avLst>
              <a:gd name="adj" fmla="val 5000"/>
            </a:avLst>
          </a:prstGeom>
          <a:solidFill>
            <a:srgbClr val="1C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封装函数 buffer 不可见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3611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核内同步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gemm_v0 仅识别顶层参数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11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隐式依赖不可见</a:t>
            </a:r>
          </a:p>
        </p:txBody>
      </p:sp>
      <p:sp>
        <p:nvSpPr>
          <p:cNvPr id="35" name="Oval 34"/>
          <p:cNvSpPr/>
          <p:nvPr/>
        </p:nvSpPr>
        <p:spPr>
          <a:xfrm>
            <a:off x="10241280" y="3675888"/>
            <a:ext cx="182880" cy="182880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65760" y="4023360"/>
            <a:ext cx="11430000" cy="4114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069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workspace 读写不匹配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4069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核间同步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cube/vec 侧数量不一致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069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FATAL 终止编译</a:t>
            </a:r>
          </a:p>
        </p:txBody>
      </p:sp>
      <p:sp>
        <p:nvSpPr>
          <p:cNvPr id="41" name="Oval 40"/>
          <p:cNvSpPr/>
          <p:nvPr/>
        </p:nvSpPr>
        <p:spPr>
          <a:xfrm>
            <a:off x="10241280" y="4133088"/>
            <a:ext cx="182880" cy="182880"/>
          </a:xfrm>
          <a:prstGeom prst="ellipse">
            <a:avLst/>
          </a:prstGeom>
          <a:solidFill>
            <a:srgbClr val="FF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65760" y="4480560"/>
            <a:ext cx="11430000" cy="411480"/>
          </a:xfrm>
          <a:prstGeom prst="roundRect">
            <a:avLst>
              <a:gd name="adj" fmla="val 5000"/>
            </a:avLst>
          </a:prstGeom>
          <a:solidFill>
            <a:srgbClr val="1C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核间同步与 CV 耦合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77440" y="4526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核间同步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4526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内嵌在 combinecv.cc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526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无法独立维护</a:t>
            </a:r>
          </a:p>
        </p:txBody>
      </p:sp>
      <p:sp>
        <p:nvSpPr>
          <p:cNvPr id="47" name="Oval 46"/>
          <p:cNvSpPr/>
          <p:nvPr/>
        </p:nvSpPr>
        <p:spPr>
          <a:xfrm>
            <a:off x="10241280" y="4590288"/>
            <a:ext cx="182880" cy="182880"/>
          </a:xfrm>
          <a:prstGeom prst="ellipse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Issue 跟踪 &amp; 问题维度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105156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4 项 Issue + 三大分类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Arial"/>
              </a:defRPr>
            </a:pPr>
            <a:r>
              <a:t>#1123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874520"/>
            <a:ext cx="1005840" cy="32004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874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架构层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PTO Codegen 不应插入同步</a:t>
            </a:r>
            <a:br/>
            <a:r>
              <a:t>同步应在更高层次完成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73736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FF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874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5555"/>
                </a:solidFill>
                <a:latin typeface="Arial"/>
              </a:defRPr>
            </a:pPr>
            <a:r>
              <a:t>#943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874520"/>
            <a:ext cx="1005840" cy="320040"/>
          </a:xfrm>
          <a:prstGeom prst="roundRect">
            <a:avLst>
              <a:gd name="adj" fmla="val 5000"/>
            </a:avLst>
          </a:prstGeom>
          <a:solidFill>
            <a:srgbClr val="FF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874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漏插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3774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AUTO_CV_SYNC pass</a:t>
            </a:r>
            <a:br/>
            <a:r>
              <a:t>在 for 循环场景下漏插同步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73736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F43"/>
                </a:solidFill>
                <a:latin typeface="Arial"/>
              </a:defRPr>
            </a:pPr>
            <a:r>
              <a:t>#482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1874520"/>
            <a:ext cx="1005840" cy="320040"/>
          </a:xfrm>
          <a:prstGeom prst="roundRect">
            <a:avLst>
              <a:gd name="adj" fmla="val 5000"/>
            </a:avLst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1874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错插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3774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auto_insert_sync pass</a:t>
            </a:r>
            <a:br/>
            <a:r>
              <a:t>在不该插入的位置插入错误同步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173736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FF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874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5555"/>
                </a:solidFill>
                <a:latin typeface="Arial"/>
              </a:defRPr>
            </a:pPr>
            <a:r>
              <a:t>#110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69880" y="1874520"/>
            <a:ext cx="1005840" cy="320040"/>
          </a:xfrm>
          <a:prstGeom prst="roundRect">
            <a:avLst>
              <a:gd name="adj" fmla="val 5000"/>
            </a:avLst>
          </a:prstGeom>
          <a:solidFill>
            <a:srgbClr val="FF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69880" y="1874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漏插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3774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双缓冲场景下</a:t>
            </a:r>
            <a:br/>
            <a:r>
              <a:t>自动同步不正确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297680"/>
            <a:ext cx="11247120" cy="22860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4DFF"/>
                </a:solidFill>
                <a:latin typeface="Microsoft YaHei"/>
              </a:defRPr>
            </a:pPr>
            <a:r>
              <a:t>📊 问题维度分类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🏗️  架构层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035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9"/>
              </a:lnSpc>
              <a:spcBef>
                <a:spcPts val="30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#1123: 同步插入应在哪个编译阶段执行？</a:t>
            </a:r>
          </a:p>
          <a:p>
            <a:pPr>
              <a:lnSpc>
                <a:spcPts val="1439"/>
              </a:lnSpc>
              <a:spcBef>
                <a:spcPts val="30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当前在所有 loop transform 之后</a:t>
            </a:r>
          </a:p>
          <a:p>
            <a:pPr>
              <a:lnSpc>
                <a:spcPts val="1439"/>
              </a:lnSpc>
              <a:spcBef>
                <a:spcPts val="30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无法感知 pipeline 并行性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555"/>
                </a:solidFill>
                <a:latin typeface="Microsoft YaHei"/>
              </a:defRPr>
            </a:pPr>
            <a:r>
              <a:t>❌  漏插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3035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9"/>
              </a:lnSpc>
              <a:spcBef>
                <a:spcPts val="30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#943: 循环内跨迭代同步丢失</a:t>
            </a:r>
          </a:p>
          <a:p>
            <a:pPr>
              <a:lnSpc>
                <a:spcPts val="1439"/>
              </a:lnSpc>
              <a:spcBef>
                <a:spcPts val="30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#110: 双缓冲场景缓冲区切换同步缺失</a:t>
            </a:r>
          </a:p>
          <a:p>
            <a:pPr>
              <a:lnSpc>
                <a:spcPts val="1439"/>
              </a:lnSpc>
              <a:spcBef>
                <a:spcPts val="30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该插的地方没插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Microsoft YaHei"/>
              </a:defRPr>
            </a:pPr>
            <a:r>
              <a:t>⚠️  错插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53035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9"/>
              </a:lnSpc>
              <a:spcBef>
                <a:spcPts val="30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#482: 保守策略引入冗余同步</a:t>
            </a:r>
          </a:p>
          <a:p>
            <a:pPr>
              <a:lnSpc>
                <a:spcPts val="1439"/>
              </a:lnSpc>
              <a:spcBef>
                <a:spcPts val="30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IF_THEN_ELSE 的 PipeBarrier_ALL</a:t>
            </a:r>
          </a:p>
          <a:p>
            <a:pPr>
              <a:lnSpc>
                <a:spcPts val="1439"/>
              </a:lnSpc>
              <a:spcBef>
                <a:spcPts val="300"/>
              </a:spcBef>
            </a:pPr>
            <a:r>
              <a:rPr sz="1000">
                <a:solidFill>
                  <a:srgbClr val="00D2FF"/>
                </a:solidFill>
                <a:latin typeface="Microsoft YaHei"/>
              </a:rPr>
              <a:t>▸ </a:t>
            </a:r>
            <a:r>
              <a:rPr sz="1200" b="0">
                <a:solidFill>
                  <a:srgbClr val="BBBBCC"/>
                </a:solidFill>
                <a:latin typeface="Microsoft YaHei"/>
              </a:rPr>
              <a:t>Event ID 复用导致伪依赖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105156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当前能力矩阵 &amp; 改进方向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11247120" cy="4572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能力维度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8013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核内同步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8013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核间同步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0280"/>
            <a:ext cx="11247120" cy="4114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顺序场景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286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96"/>
                </a:solidFill>
                <a:latin typeface="Microsoft YaHei"/>
              </a:defRPr>
            </a:pPr>
            <a:r>
              <a:t>✅ 完整支持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286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96"/>
                </a:solidFill>
                <a:latin typeface="Microsoft YaHei"/>
              </a:defRPr>
            </a:pPr>
            <a:r>
              <a:t>✅ 完整支持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679192"/>
            <a:ext cx="11247120" cy="411480"/>
          </a:xfrm>
          <a:prstGeom prst="roundRect">
            <a:avLst>
              <a:gd name="adj" fmla="val 5000"/>
            </a:avLst>
          </a:prstGeom>
          <a:solidFill>
            <a:srgbClr val="1C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249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单层循环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7249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96"/>
                </a:solidFill>
                <a:latin typeface="Microsoft YaHei"/>
              </a:defRPr>
            </a:pPr>
            <a:r>
              <a:t>✅ 展开+合并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7249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96"/>
                </a:solidFill>
                <a:latin typeface="Microsoft YaHei"/>
              </a:defRPr>
            </a:pPr>
            <a:r>
              <a:t>✅ 目标循环选择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18104"/>
            <a:ext cx="11247120" cy="4114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638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嵌套循环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1638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F43"/>
                </a:solidFill>
                <a:latin typeface="Microsoft YaHei"/>
              </a:defRPr>
            </a:pPr>
            <a:r>
              <a:t>⚠️ 框架已有，不完善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1638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96"/>
                </a:solidFill>
                <a:latin typeface="Microsoft YaHei"/>
              </a:defRPr>
            </a:pPr>
            <a:r>
              <a:t>✅ 支持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557016"/>
            <a:ext cx="11247120" cy="411480"/>
          </a:xfrm>
          <a:prstGeom prst="roundRect">
            <a:avLst>
              <a:gd name="adj" fmla="val 5000"/>
            </a:avLst>
          </a:prstGeom>
          <a:solidFill>
            <a:srgbClr val="1C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6027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分支语句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36027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F43"/>
                </a:solidFill>
                <a:latin typeface="Microsoft YaHei"/>
              </a:defRPr>
            </a:pPr>
            <a:r>
              <a:t>⚠️ 保守处理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6027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N/A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95928"/>
            <a:ext cx="11247120" cy="4114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0416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跨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0416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96"/>
                </a:solidFill>
                <a:latin typeface="Microsoft YaHei"/>
              </a:defRPr>
            </a:pPr>
            <a:r>
              <a:t>✅ PipeBarrier + EventPair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0416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96"/>
                </a:solidFill>
                <a:latin typeface="Microsoft YaHei"/>
              </a:defRPr>
            </a:pPr>
            <a:r>
              <a:t>✅ SetFlag + WaitFlag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434840"/>
            <a:ext cx="11247120" cy="411480"/>
          </a:xfrm>
          <a:prstGeom prst="roundRect">
            <a:avLst>
              <a:gd name="adj" fmla="val 5000"/>
            </a:avLst>
          </a:prstGeom>
          <a:solidFill>
            <a:srgbClr val="1C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同步优化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96"/>
                </a:solidFill>
                <a:latin typeface="Microsoft YaHei"/>
              </a:defRPr>
            </a:pPr>
            <a:r>
              <a:t>✅ SyncGraph 传递闭包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N/A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873752"/>
            <a:ext cx="11247120" cy="4114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9194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切片操作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49194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F43"/>
                </a:solidFill>
                <a:latin typeface="Microsoft YaHei"/>
              </a:defRPr>
            </a:pPr>
            <a:r>
              <a:t>⚠️ 粗粒度 Barrier_ALL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9194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N/A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六大改进方向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105156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Roadmap &amp; Future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7452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202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嵌套循环完善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改进迭代合并策略</a:t>
            </a:r>
            <a:br/>
            <a:r>
              <a:t>正确处理嵌套层级间的同步传播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3736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87452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9202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分支精细分析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5146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IF_THEN_ELSE 内做精确依赖分析</a:t>
            </a:r>
            <a:br/>
            <a:r>
              <a:t>替代全量 PipeBarrier_ALL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73736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75320" y="187452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19202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事件 ID 管理优化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5146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扩大 event ID 空间</a:t>
            </a:r>
            <a:br/>
            <a:r>
              <a:t>引入动态分配策略，避免伪依赖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0624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434340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389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同步与 Pipeline 协同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834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sync insertion 提前到</a:t>
            </a:r>
            <a:br/>
            <a:r>
              <a:t>pipeline planning 阶段，感知并行性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20624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34840" y="434340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4389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核间同步解耦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9834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将核间同步逻辑</a:t>
            </a:r>
            <a:br/>
            <a:r>
              <a:t>从 CombineCV 中抽离为独立 Pass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20624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FF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75320" y="434340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F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4389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Buffer 区间粒度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9834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基于区间的精确依赖分析</a:t>
            </a:r>
            <a:br/>
            <a:r>
              <a:t>替代切片场景的粗粒度处理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D2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7C4D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828800"/>
            <a:ext cx="3657600" cy="3657600"/>
          </a:xfrm>
          <a:prstGeom prst="ellipse">
            <a:avLst/>
          </a:prstGeom>
          <a:solidFill>
            <a:srgbClr val="00E696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291840"/>
            <a:ext cx="301752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BBCC"/>
                </a:solidFill>
                <a:latin typeface="Microsoft YaHei"/>
              </a:defRPr>
            </a:pPr>
            <a:r>
              <a:t>自动同步插入全景分析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  <a:latin typeface="Microsoft YaHei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