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5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 c" userId="c61ef50d02a58fec" providerId="LiveId" clId="{844CA810-E639-44B5-A1A2-D0F0BD2C3BAC}"/>
    <pc:docChg chg="modSld">
      <pc:chgData name="j c" userId="c61ef50d02a58fec" providerId="LiveId" clId="{844CA810-E639-44B5-A1A2-D0F0BD2C3BAC}" dt="2026-06-12T06:23:22.050" v="14" actId="20577"/>
      <pc:docMkLst>
        <pc:docMk/>
      </pc:docMkLst>
      <pc:sldChg chg="modSp mod">
        <pc:chgData name="j c" userId="c61ef50d02a58fec" providerId="LiveId" clId="{844CA810-E639-44B5-A1A2-D0F0BD2C3BAC}" dt="2026-06-12T06:13:11.005" v="0" actId="255"/>
        <pc:sldMkLst>
          <pc:docMk/>
          <pc:sldMk cId="0" sldId="256"/>
        </pc:sldMkLst>
        <pc:spChg chg="mod">
          <ac:chgData name="j c" userId="c61ef50d02a58fec" providerId="LiveId" clId="{844CA810-E639-44B5-A1A2-D0F0BD2C3BAC}" dt="2026-06-12T06:13:11.005" v="0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j c" userId="c61ef50d02a58fec" providerId="LiveId" clId="{844CA810-E639-44B5-A1A2-D0F0BD2C3BAC}" dt="2026-06-12T06:14:24.613" v="2" actId="113"/>
        <pc:sldMkLst>
          <pc:docMk/>
          <pc:sldMk cId="0" sldId="257"/>
        </pc:sldMkLst>
        <pc:spChg chg="mod">
          <ac:chgData name="j c" userId="c61ef50d02a58fec" providerId="LiveId" clId="{844CA810-E639-44B5-A1A2-D0F0BD2C3BAC}" dt="2026-06-12T06:13:54.064" v="1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j c" userId="c61ef50d02a58fec" providerId="LiveId" clId="{844CA810-E639-44B5-A1A2-D0F0BD2C3BAC}" dt="2026-06-12T06:14:24.613" v="2" actId="113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j c" userId="c61ef50d02a58fec" providerId="LiveId" clId="{844CA810-E639-44B5-A1A2-D0F0BD2C3BAC}" dt="2026-06-12T06:18:40.335" v="7" actId="20577"/>
        <pc:sldMkLst>
          <pc:docMk/>
          <pc:sldMk cId="0" sldId="259"/>
        </pc:sldMkLst>
        <pc:graphicFrameChg chg="modGraphic">
          <ac:chgData name="j c" userId="c61ef50d02a58fec" providerId="LiveId" clId="{844CA810-E639-44B5-A1A2-D0F0BD2C3BAC}" dt="2026-06-12T06:18:40.335" v="7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j c" userId="c61ef50d02a58fec" providerId="LiveId" clId="{844CA810-E639-44B5-A1A2-D0F0BD2C3BAC}" dt="2026-06-12T06:19:50.593" v="9" actId="20577"/>
        <pc:sldMkLst>
          <pc:docMk/>
          <pc:sldMk cId="0" sldId="260"/>
        </pc:sldMkLst>
        <pc:spChg chg="mod">
          <ac:chgData name="j c" userId="c61ef50d02a58fec" providerId="LiveId" clId="{844CA810-E639-44B5-A1A2-D0F0BD2C3BAC}" dt="2026-06-12T06:19:50.593" v="9" actId="20577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j c" userId="c61ef50d02a58fec" providerId="LiveId" clId="{844CA810-E639-44B5-A1A2-D0F0BD2C3BAC}" dt="2026-06-12T06:20:14.723" v="12" actId="20577"/>
        <pc:sldMkLst>
          <pc:docMk/>
          <pc:sldMk cId="0" sldId="261"/>
        </pc:sldMkLst>
        <pc:spChg chg="mod">
          <ac:chgData name="j c" userId="c61ef50d02a58fec" providerId="LiveId" clId="{844CA810-E639-44B5-A1A2-D0F0BD2C3BAC}" dt="2026-06-12T06:20:14.723" v="12" actId="20577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j c" userId="c61ef50d02a58fec" providerId="LiveId" clId="{844CA810-E639-44B5-A1A2-D0F0BD2C3BAC}" dt="2026-06-12T06:23:22.050" v="14" actId="20577"/>
        <pc:sldMkLst>
          <pc:docMk/>
          <pc:sldMk cId="0" sldId="263"/>
        </pc:sldMkLst>
        <pc:spChg chg="mod">
          <ac:chgData name="j c" userId="c61ef50d02a58fec" providerId="LiveId" clId="{844CA810-E639-44B5-A1A2-D0F0BD2C3BAC}" dt="2026-06-12T06:23:22.050" v="14" actId="20577"/>
          <ac:spMkLst>
            <pc:docMk/>
            <pc:sldMk cId="0" sldId="263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rPr sz="4000" dirty="0" err="1"/>
              <a:t>TileLang</a:t>
            </a:r>
            <a:r>
              <a:rPr sz="4000" dirty="0"/>
              <a:t>-Ascend </a:t>
            </a:r>
            <a:r>
              <a:rPr sz="4000" dirty="0" err="1"/>
              <a:t>自动插同步方案选型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CC"/>
                </a:solidFill>
                <a:latin typeface="Microsoft YaHei"/>
              </a:defRPr>
            </a:pPr>
            <a:r>
              <a:t>Z3 求解器方案  vs  TBE 经验方案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36576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技术选型分析与落地建议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背景概述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A9E"/>
                </a:solidFill>
                <a:latin typeface="Microsoft YaHei"/>
              </a:defRPr>
            </a:pPr>
            <a:r>
              <a:t>代码关系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TileLang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-Ascend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衍生自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TileLang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主仓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代码基线同源，架构、IR、编译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Pass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体系一致</a:t>
            </a:r>
            <a:endParaRPr sz="13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现存问题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ascend_sync_insert.cc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逻辑</a:t>
            </a:r>
            <a:r>
              <a:rPr sz="1300" b="1" dirty="0" err="1">
                <a:solidFill>
                  <a:srgbClr val="333333"/>
                </a:solidFill>
                <a:latin typeface="Microsoft YaHei"/>
              </a:rPr>
              <a:t>过度保守</a:t>
            </a:r>
            <a:endParaRPr sz="1300" b="1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If-Else / For /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切片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/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依赖检测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四大场景冗余同步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直接造成算子性能损耗</a:t>
            </a:r>
            <a:endParaRPr sz="13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两条路线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路线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1：同源演进——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复用主仓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Z3+CanProve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方案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路线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2：异构借鉴——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引入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TBE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静态数据流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/CFG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逻辑</a:t>
            </a:r>
            <a:endParaRPr sz="1300" dirty="0">
              <a:solidFill>
                <a:srgbClr val="333333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全维度对比（上）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anchor="ctr">
                    <a:solidFill>
                      <a:srgbClr val="2D5A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方案一：Z3 求解器</a:t>
                      </a:r>
                    </a:p>
                  </a:txBody>
                  <a:tcPr anchor="ctr">
                    <a:solidFill>
                      <a:srgbClr val="2D5A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方案二：TBE 经验</a:t>
                      </a:r>
                    </a:p>
                  </a:txBody>
                  <a:tcPr anchor="ctr">
                    <a:solidFill>
                      <a:srgbClr val="2D5A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技术栈兼容性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极高，与上游同源，版本合并友好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❌ 低，昇腾独立体系，分支易私有化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能力覆盖范围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全覆盖：符号索引/动态切片/非线性约束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⚠️ 主流静态场景，符号/动态能力弱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问题修复效果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最优，冗余消除率 70%~90%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优秀，可解决 80%+ 冗余同步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昇腾硬件适配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⚠️ 需剔除 GPU 逻辑，适配昇腾原语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✅ </a:t>
                      </a:r>
                      <a:r>
                        <a:rPr sz="12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最优，量产多年，语义零偏差</a:t>
                      </a:r>
                      <a:endParaRPr sz="12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编译性能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⚠️ 主流快，复杂场景有超时风险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稳定高效，纯静态分析无抖动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第三方依赖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⚠️ 需引入 Z3 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✅ </a:t>
                      </a:r>
                      <a:r>
                        <a:rPr sz="12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零外部依赖</a:t>
                      </a:r>
                      <a:endParaRPr sz="12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全维度对比（下）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135689"/>
              </p:ext>
            </p:extLst>
          </p:nvPr>
        </p:nvGraphicFramePr>
        <p:xfrm>
          <a:off x="731520" y="137160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anchor="ctr">
                    <a:solidFill>
                      <a:srgbClr val="2D5A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方案一：Z3 求解器</a:t>
                      </a:r>
                    </a:p>
                  </a:txBody>
                  <a:tcPr anchor="ctr">
                    <a:solidFill>
                      <a:srgbClr val="2D5A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方案二：TBE 经验</a:t>
                      </a:r>
                    </a:p>
                  </a:txBody>
                  <a:tcPr anchor="ctr">
                    <a:solidFill>
                      <a:srgbClr val="2D5A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改造成本 &amp; 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中等，</a:t>
                      </a: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6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~</a:t>
                      </a: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8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偏低，4</a:t>
                      </a: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~6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代码复杂度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中等，模块化成熟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中低，规则直观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上游版本同步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友好，可持续合入主仓更新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❌ 困难，技术路线分叉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异常兜底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Z3 失败自动回退保守逻辑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静态失效自动回退，量产验证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Microsoft YaHei"/>
                        </a:rPr>
                        <a:t>长期技术演进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✅ 上限高，跟随主仓持续升级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333333"/>
                          </a:solidFill>
                          <a:latin typeface="Microsoft YaHei"/>
                        </a:rPr>
                        <a:t>⚠️ </a:t>
                      </a:r>
                      <a:r>
                        <a:rPr sz="1200" dirty="0" err="1">
                          <a:solidFill>
                            <a:srgbClr val="333333"/>
                          </a:solidFill>
                          <a:latin typeface="Microsoft YaHei"/>
                        </a:rPr>
                        <a:t>能力固化，扩展性弱</a:t>
                      </a:r>
                      <a:endParaRPr sz="1200" dirty="0">
                        <a:solidFill>
                          <a:srgbClr val="333333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方案一：复用主仓 Z3 求解器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✅ 核心优点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生态统一，长期维护成本低，不形成技术孤岛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分析精度最高：CanProve+Z3 符号求解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  — If-Else：精准判断访问冲突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  — For 循环：符号偏移分析跨迭代依赖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  — 切片访问：区分静态/动态，仅重叠时插入同步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  — 依赖检测：字节级符号判断，减少假阳性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技术上限高：支持模运算、非线性约束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架构成熟：GPU 主仓大规模验证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❌ 核心缺点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79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硬件适配工作量：需剔除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GPU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多线程逻辑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引入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Z3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第三方依赖，环境需集成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编译性能不确定：复杂约束可能超时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落地周期较长：</a:t>
            </a:r>
            <a:r>
              <a:rPr lang="en-US" sz="1300" dirty="0">
                <a:solidFill>
                  <a:srgbClr val="333333"/>
                </a:solidFill>
                <a:latin typeface="Microsoft YaHei"/>
              </a:rPr>
              <a:t>6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~</a:t>
            </a:r>
            <a:r>
              <a:rPr lang="en-US" sz="1300" dirty="0">
                <a:solidFill>
                  <a:srgbClr val="333333"/>
                </a:solidFill>
                <a:latin typeface="Microsoft YaHei"/>
              </a:rPr>
              <a:t>8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周，无法快速上线</a:t>
            </a:r>
            <a:endParaRPr sz="1300" dirty="0">
              <a:solidFill>
                <a:srgbClr val="333333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方案二：借鉴华为 TBE 同步逻辑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✅ 核心优点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79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落地快、改造成本低：4</a:t>
            </a:r>
            <a:r>
              <a:rPr lang="en-US" sz="1300" dirty="0">
                <a:solidFill>
                  <a:srgbClr val="333333"/>
                </a:solidFill>
                <a:latin typeface="Microsoft YaHei"/>
              </a:rPr>
              <a:t>~6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周上线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昇腾硬件原生适配，稳定性极强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CANN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生态量产多年，贴合达芬奇架构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编译性能稳定无损耗，纯静态分析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零外部依赖，对运维交付友好</a:t>
            </a:r>
            <a:endParaRPr sz="13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❌ 核心缺点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技术路线分叉，脱离上游主仓（最大短板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分支逐步私有化，长期维护负担上升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能力固有上限：符号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/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动态场景只能保守回退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规则扩展性弱：新场景需反复补规则</a:t>
            </a:r>
            <a:endParaRPr sz="13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学习成本增加：团队需学</a:t>
            </a:r>
            <a:r>
              <a:rPr sz="1300" dirty="0">
                <a:solidFill>
                  <a:srgbClr val="333333"/>
                </a:solidFill>
                <a:latin typeface="Microsoft YaHei"/>
              </a:rPr>
              <a:t> TBE </a:t>
            </a:r>
            <a:r>
              <a:rPr sz="1300" dirty="0" err="1">
                <a:solidFill>
                  <a:srgbClr val="333333"/>
                </a:solidFill>
                <a:latin typeface="Microsoft YaHei"/>
              </a:rPr>
              <a:t>新范式</a:t>
            </a:r>
            <a:endParaRPr sz="1300" dirty="0">
              <a:solidFill>
                <a:srgbClr val="333333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核心决策判定条件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A9E"/>
                </a:solidFill>
                <a:latin typeface="Microsoft YaHei"/>
              </a:defRPr>
            </a:pPr>
            <a:r>
              <a:t>判定 1：分支定位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若长期跟随上游主仓、统一技术栈 → 选 Z3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若定位独立私有分支 → 可选 TBE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判定 2：交付节奏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若短期（1~2月）有硬性节点 → 选 TBE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若无强时间压力、追求长期最优 → 选 Z3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判定 3：算子类型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7548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若以静态 Shape/固定切片为主 → 两者皆可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若大量动态/符号/GEMM/FlashAttn → 必选 Z3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判定 4：环境约束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59"/>
            <a:ext cx="47548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若禁止新增 Z3 等第三方库 → 只能选 TBE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若环境灵活可引入开源依赖 → Z3 无阻碍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A9E"/>
                </a:solidFill>
                <a:latin typeface="Microsoft YaHei"/>
              </a:defRPr>
            </a:pPr>
            <a:r>
              <a:t>分场景落地建议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5A9E"/>
                </a:solidFill>
                <a:latin typeface="Microsoft YaHei"/>
              </a:defRPr>
            </a:pPr>
            <a:r>
              <a:rPr dirty="0" err="1"/>
              <a:t>场景</a:t>
            </a:r>
            <a:r>
              <a:rPr dirty="0"/>
              <a:t> 1：主流推荐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A9E"/>
                </a:solidFill>
                <a:latin typeface="Microsoft YaHei"/>
              </a:defRPr>
            </a:pPr>
            <a:r>
              <a:t>▶ 选 Z3 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CanProve 优先 + Z3 兜底混合模式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剥离 GPU 逻辑，封装 Ascend 同步原语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Z3 超时阈值 50ms，自动回退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分阶段迭代：If-Else → 切片 → For → Z3 集成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场景 2：短期紧急 + 环境受限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▶ 选 TBE 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仅复用 TBE 核心规则，保留 SyncGraph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用 TVM CanProve 补符号判断（不引入 Z3）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明确分支私有化定位，自主维护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Microsoft YaHei"/>
              </a:defRPr>
            </a:pPr>
            <a:r>
              <a:t>场景 3：折中过渡（应急+回归）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▶ 先 TBE 后 Z3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333333"/>
                </a:solidFill>
                <a:latin typeface="Microsoft YaHei"/>
              </a:rPr>
              <a:t>• 第一阶段（2~4周）：</a:t>
            </a:r>
            <a:r>
              <a:rPr sz="1200" dirty="0" err="1">
                <a:solidFill>
                  <a:srgbClr val="333333"/>
                </a:solidFill>
                <a:latin typeface="Microsoft YaHei"/>
              </a:rPr>
              <a:t>临时接入</a:t>
            </a:r>
            <a:r>
              <a:rPr sz="1200" dirty="0">
                <a:solidFill>
                  <a:srgbClr val="333333"/>
                </a:solidFill>
                <a:latin typeface="Microsoft YaHei"/>
              </a:rPr>
              <a:t> TBE </a:t>
            </a:r>
            <a:r>
              <a:rPr sz="1200" dirty="0" err="1">
                <a:solidFill>
                  <a:srgbClr val="333333"/>
                </a:solidFill>
                <a:latin typeface="Microsoft YaHei"/>
              </a:rPr>
              <a:t>止血</a:t>
            </a:r>
            <a:endParaRPr sz="12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333333"/>
                </a:solidFill>
                <a:latin typeface="Microsoft YaHei"/>
              </a:rPr>
              <a:t>第二阶段：并行开展</a:t>
            </a:r>
            <a:r>
              <a:rPr sz="1200" dirty="0">
                <a:solidFill>
                  <a:srgbClr val="333333"/>
                </a:solidFill>
                <a:latin typeface="Microsoft YaHei"/>
              </a:rPr>
              <a:t> Z3 </a:t>
            </a:r>
            <a:r>
              <a:rPr sz="1200" dirty="0" err="1">
                <a:solidFill>
                  <a:srgbClr val="333333"/>
                </a:solidFill>
                <a:latin typeface="Microsoft YaHei"/>
              </a:rPr>
              <a:t>适配</a:t>
            </a:r>
            <a:endParaRPr sz="12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333333"/>
                </a:solidFill>
                <a:latin typeface="Microsoft YaHei"/>
              </a:rPr>
              <a:t>• 第三阶段：Z3 </a:t>
            </a:r>
            <a:r>
              <a:rPr sz="1200" dirty="0" err="1">
                <a:solidFill>
                  <a:srgbClr val="333333"/>
                </a:solidFill>
                <a:latin typeface="Microsoft YaHei"/>
              </a:rPr>
              <a:t>验证通过后切换，下线</a:t>
            </a:r>
            <a:r>
              <a:rPr sz="1200" dirty="0">
                <a:solidFill>
                  <a:srgbClr val="333333"/>
                </a:solidFill>
                <a:latin typeface="Microsoft YaHei"/>
              </a:rPr>
              <a:t> TBE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最终总结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463040"/>
            <a:ext cx="1645920" cy="36576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2011680"/>
            <a:ext cx="14630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长期首选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65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复用主仓 Z3 求解器方案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贴合分支溯源定位，技术栈统一，分析精度最高，可支撑全类型算子迭代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474720"/>
            <a:ext cx="146304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应急首选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29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借鉴 TBE 同步逻辑方案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落地快、零依赖、硬件适配成熟，可快速解决当下性能问题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937760"/>
            <a:ext cx="1463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红线提醒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892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禁止全面改用 TBE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若核心目标是跟随上游生态、保持代码同步，TBE 仅可作为短期临时过渡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577</Words>
  <Application>Microsoft Office PowerPoint</Application>
  <PresentationFormat>宽屏</PresentationFormat>
  <Paragraphs>123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 c</cp:lastModifiedBy>
  <cp:revision>1</cp:revision>
  <dcterms:created xsi:type="dcterms:W3CDTF">2013-01-27T09:14:16Z</dcterms:created>
  <dcterms:modified xsi:type="dcterms:W3CDTF">2026-06-12T06:23:56Z</dcterms:modified>
  <cp:category/>
</cp:coreProperties>
</file>